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65" r:id="rId15"/>
  </p:sldIdLst>
  <p:sldSz cx="18288000" cy="10287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Poppins Light" panose="00000400000000000000" pitchFamily="2" charset="0"/>
      <p:regular r:id="rId24"/>
      <p:italic r:id="rId25"/>
    </p:embeddedFont>
    <p:embeddedFont>
      <p:font typeface="Trebuchet MS" panose="020B0603020202020204" pitchFamily="3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099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2.png"/><Relationship Id="rId5" Type="http://schemas.openxmlformats.org/officeDocument/2006/relationships/image" Target="../media/image2.svg"/><Relationship Id="rId10" Type="http://schemas.openxmlformats.org/officeDocument/2006/relationships/image" Target="../media/image11.png"/><Relationship Id="rId4" Type="http://schemas.openxmlformats.org/officeDocument/2006/relationships/image" Target="../media/image1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gif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10" Type="http://schemas.openxmlformats.org/officeDocument/2006/relationships/image" Target="../media/image6.svg"/><Relationship Id="rId4" Type="http://schemas.openxmlformats.org/officeDocument/2006/relationships/image" Target="../media/image3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55266" y="2685126"/>
            <a:ext cx="12587979" cy="2071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11"/>
              </a:lnSpc>
            </a:pPr>
            <a:r>
              <a:rPr lang="en-US" sz="18062" b="1" dirty="0" err="1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GradePilot</a:t>
            </a:r>
            <a:endParaRPr lang="en-US" sz="18062" b="1" dirty="0">
              <a:solidFill>
                <a:srgbClr val="00000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746719" y="7114699"/>
            <a:ext cx="4794562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500" dirty="0">
                <a:latin typeface="Poppins Light" panose="00000400000000000000" pitchFamily="2" charset="0"/>
                <a:cs typeface="Poppins Light" panose="00000400000000000000" pitchFamily="2" charset="0"/>
              </a:rPr>
              <a:t>BY</a:t>
            </a:r>
          </a:p>
          <a:p>
            <a:pPr algn="ctr"/>
            <a:r>
              <a:rPr lang="en-US" sz="2500" dirty="0">
                <a:latin typeface="Poppins Light" panose="00000400000000000000" pitchFamily="2" charset="0"/>
                <a:cs typeface="Poppins Light" panose="00000400000000000000" pitchFamily="2" charset="0"/>
              </a:rPr>
              <a:t>PATAJO, </a:t>
            </a:r>
            <a:r>
              <a:rPr lang="en-US" sz="2500" dirty="0" err="1">
                <a:latin typeface="Poppins Light" panose="00000400000000000000" pitchFamily="2" charset="0"/>
                <a:cs typeface="Poppins Light" panose="00000400000000000000" pitchFamily="2" charset="0"/>
              </a:rPr>
              <a:t>Odrei</a:t>
            </a:r>
            <a:r>
              <a:rPr lang="en-US" sz="2500" dirty="0">
                <a:latin typeface="Poppins Light" panose="00000400000000000000" pitchFamily="2" charset="0"/>
                <a:cs typeface="Poppins Light" panose="00000400000000000000" pitchFamily="2" charset="0"/>
              </a:rPr>
              <a:t> John C.</a:t>
            </a:r>
          </a:p>
          <a:p>
            <a:pPr algn="ctr"/>
            <a:r>
              <a:rPr lang="en-US" sz="2500" dirty="0">
                <a:latin typeface="Poppins Light" panose="00000400000000000000" pitchFamily="2" charset="0"/>
                <a:cs typeface="Poppins Light" panose="00000400000000000000" pitchFamily="2" charset="0"/>
              </a:rPr>
              <a:t>DE LEON, Queenie A.</a:t>
            </a:r>
          </a:p>
          <a:p>
            <a:pPr algn="ctr"/>
            <a:r>
              <a:rPr lang="en-US" sz="2500" dirty="0">
                <a:latin typeface="Poppins Light" panose="00000400000000000000" pitchFamily="2" charset="0"/>
                <a:cs typeface="Poppins Light" panose="00000400000000000000" pitchFamily="2" charset="0"/>
              </a:rPr>
              <a:t>NOVELOZO, </a:t>
            </a:r>
            <a:r>
              <a:rPr lang="en-US" sz="2500" dirty="0" err="1">
                <a:latin typeface="Poppins Light" panose="00000400000000000000" pitchFamily="2" charset="0"/>
                <a:cs typeface="Poppins Light" panose="00000400000000000000" pitchFamily="2" charset="0"/>
              </a:rPr>
              <a:t>Racell</a:t>
            </a:r>
            <a:r>
              <a:rPr lang="en-US" sz="2500" dirty="0">
                <a:latin typeface="Poppins Light" panose="00000400000000000000" pitchFamily="2" charset="0"/>
                <a:cs typeface="Poppins Light" panose="00000400000000000000" pitchFamily="2" charset="0"/>
              </a:rPr>
              <a:t> Jay C.</a:t>
            </a:r>
          </a:p>
          <a:p>
            <a:pPr algn="ctr"/>
            <a:r>
              <a:rPr lang="en-US" sz="2500" dirty="0">
                <a:latin typeface="Poppins Light" panose="00000400000000000000" pitchFamily="2" charset="0"/>
                <a:cs typeface="Poppins Light" panose="00000400000000000000" pitchFamily="2" charset="0"/>
              </a:rPr>
              <a:t>MANAHAN, John Felix R.</a:t>
            </a:r>
          </a:p>
          <a:p>
            <a:pPr algn="ctr"/>
            <a:r>
              <a:rPr lang="en-US" sz="2500" dirty="0">
                <a:latin typeface="Poppins Light" panose="00000400000000000000" pitchFamily="2" charset="0"/>
                <a:cs typeface="Poppins Light" panose="00000400000000000000" pitchFamily="2" charset="0"/>
              </a:rPr>
              <a:t>OCHOCO, John Patrick B.</a:t>
            </a:r>
            <a:endParaRPr lang="en-PH" sz="25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7951144" y="214997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3" y="0"/>
                </a:lnTo>
                <a:lnTo>
                  <a:pt x="7417733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5" name="Freeform 5"/>
          <p:cNvSpPr/>
          <p:nvPr/>
        </p:nvSpPr>
        <p:spPr>
          <a:xfrm>
            <a:off x="-2287854" y="3923863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228886" y="6172200"/>
            <a:ext cx="2059114" cy="4114800"/>
          </a:xfrm>
          <a:custGeom>
            <a:avLst/>
            <a:gdLst/>
            <a:ahLst/>
            <a:cxnLst/>
            <a:rect l="l" t="t" r="r" b="b"/>
            <a:pathLst>
              <a:path w="2059114" h="4114800">
                <a:moveTo>
                  <a:pt x="0" y="0"/>
                </a:moveTo>
                <a:lnTo>
                  <a:pt x="2059114" y="0"/>
                </a:lnTo>
                <a:lnTo>
                  <a:pt x="20591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734800" y="1052907"/>
            <a:ext cx="7417731" cy="2785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 dirty="0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ITTE 105b: Analytics Application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3044221" y="1416222"/>
            <a:ext cx="4798887" cy="34839"/>
          </a:xfrm>
          <a:prstGeom prst="line">
            <a:avLst/>
          </a:prstGeom>
          <a:ln w="38100" cap="flat">
            <a:solidFill>
              <a:srgbClr val="FFB5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88D76D3-4A33-6613-DA3C-4B7851A2A5E6}"/>
              </a:ext>
            </a:extLst>
          </p:cNvPr>
          <p:cNvSpPr txBox="1">
            <a:spLocks/>
          </p:cNvSpPr>
          <p:nvPr/>
        </p:nvSpPr>
        <p:spPr>
          <a:xfrm>
            <a:off x="1226646" y="2268506"/>
            <a:ext cx="1905000" cy="20719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sz="100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🎓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D87AB630-BBDF-B51E-7C0B-FF848F147446}"/>
              </a:ext>
            </a:extLst>
          </p:cNvPr>
          <p:cNvSpPr txBox="1"/>
          <p:nvPr/>
        </p:nvSpPr>
        <p:spPr>
          <a:xfrm>
            <a:off x="3273995" y="4564742"/>
            <a:ext cx="12954891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500" dirty="0">
                <a:latin typeface="Poppins Light" panose="00000400000000000000" pitchFamily="2" charset="0"/>
                <a:cs typeface="Poppins Light" panose="00000400000000000000" pitchFamily="2" charset="0"/>
              </a:rPr>
              <a:t>Advanced Analytics for Educational Performance Prediction</a:t>
            </a:r>
            <a:endParaRPr lang="en-PH" sz="45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9D2AE1E-26B4-E5CE-B829-D438DB696C40}"/>
              </a:ext>
            </a:extLst>
          </p:cNvPr>
          <p:cNvGrpSpPr/>
          <p:nvPr/>
        </p:nvGrpSpPr>
        <p:grpSpPr>
          <a:xfrm>
            <a:off x="429449" y="1075992"/>
            <a:ext cx="4533273" cy="538685"/>
            <a:chOff x="489551" y="914734"/>
            <a:chExt cx="4709920" cy="592219"/>
          </a:xfrm>
        </p:grpSpPr>
        <p:sp>
          <p:nvSpPr>
            <p:cNvPr id="8" name="TextBox 8"/>
            <p:cNvSpPr txBox="1"/>
            <p:nvPr/>
          </p:nvSpPr>
          <p:spPr>
            <a:xfrm>
              <a:off x="1465671" y="1169153"/>
              <a:ext cx="3733800" cy="33780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3200" dirty="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The J-Squad + Q</a:t>
              </a:r>
            </a:p>
          </p:txBody>
        </p:sp>
        <p:sp>
          <p:nvSpPr>
            <p:cNvPr id="16" name="Freeform 3">
              <a:extLst>
                <a:ext uri="{FF2B5EF4-FFF2-40B4-BE49-F238E27FC236}">
                  <a16:creationId xmlns:a16="http://schemas.microsoft.com/office/drawing/2014/main" id="{30D618A0-5DE6-4B20-8474-CC249ADA7978}"/>
                </a:ext>
              </a:extLst>
            </p:cNvPr>
            <p:cNvSpPr/>
            <p:nvPr/>
          </p:nvSpPr>
          <p:spPr>
            <a:xfrm>
              <a:off x="489551" y="914734"/>
              <a:ext cx="749533" cy="561682"/>
            </a:xfrm>
            <a:custGeom>
              <a:avLst/>
              <a:gdLst/>
              <a:ahLst/>
              <a:cxnLst/>
              <a:rect l="l" t="t" r="r" b="b"/>
              <a:pathLst>
                <a:path w="660985" h="462690">
                  <a:moveTo>
                    <a:pt x="0" y="0"/>
                  </a:moveTo>
                  <a:lnTo>
                    <a:pt x="660985" y="0"/>
                  </a:lnTo>
                  <a:lnTo>
                    <a:pt x="660985" y="462690"/>
                  </a:lnTo>
                  <a:lnTo>
                    <a:pt x="0" y="462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82296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59300" y="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7602892" y="1620324"/>
            <a:ext cx="4284308" cy="17975"/>
          </a:xfrm>
          <a:prstGeom prst="line">
            <a:avLst/>
          </a:prstGeom>
          <a:ln w="38100" cap="flat">
            <a:solidFill>
              <a:srgbClr val="FFB5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6492059" y="1954519"/>
            <a:ext cx="5722891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5000" dirty="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GROUP MEMBERS</a:t>
            </a:r>
          </a:p>
        </p:txBody>
      </p:sp>
      <p:sp>
        <p:nvSpPr>
          <p:cNvPr id="28" name="Freeform 28"/>
          <p:cNvSpPr/>
          <p:nvPr/>
        </p:nvSpPr>
        <p:spPr>
          <a:xfrm>
            <a:off x="12631200" y="1941274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3" y="0"/>
                </a:lnTo>
                <a:lnTo>
                  <a:pt x="7417733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-3403856" y="-1232371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E7ABC26-0A09-155F-863A-14C3900D3FF2}"/>
              </a:ext>
            </a:extLst>
          </p:cNvPr>
          <p:cNvGrpSpPr/>
          <p:nvPr/>
        </p:nvGrpSpPr>
        <p:grpSpPr>
          <a:xfrm>
            <a:off x="5867400" y="892940"/>
            <a:ext cx="8189057" cy="851578"/>
            <a:chOff x="489551" y="914734"/>
            <a:chExt cx="4709920" cy="561682"/>
          </a:xfrm>
        </p:grpSpPr>
        <p:sp>
          <p:nvSpPr>
            <p:cNvPr id="33" name="TextBox 8">
              <a:extLst>
                <a:ext uri="{FF2B5EF4-FFF2-40B4-BE49-F238E27FC236}">
                  <a16:creationId xmlns:a16="http://schemas.microsoft.com/office/drawing/2014/main" id="{1ED07F38-E2C0-B20D-145D-0FAE75969F28}"/>
                </a:ext>
              </a:extLst>
            </p:cNvPr>
            <p:cNvSpPr txBox="1"/>
            <p:nvPr/>
          </p:nvSpPr>
          <p:spPr>
            <a:xfrm>
              <a:off x="1465671" y="1169153"/>
              <a:ext cx="3733800" cy="2216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4000" dirty="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The J-Squad + Q</a:t>
              </a:r>
            </a:p>
          </p:txBody>
        </p:sp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26E235A5-C45A-B35B-7178-93C7B7273E1F}"/>
                </a:ext>
              </a:extLst>
            </p:cNvPr>
            <p:cNvSpPr/>
            <p:nvPr/>
          </p:nvSpPr>
          <p:spPr>
            <a:xfrm>
              <a:off x="489551" y="914734"/>
              <a:ext cx="749533" cy="561682"/>
            </a:xfrm>
            <a:custGeom>
              <a:avLst/>
              <a:gdLst/>
              <a:ahLst/>
              <a:cxnLst/>
              <a:rect l="l" t="t" r="r" b="b"/>
              <a:pathLst>
                <a:path w="660985" h="462690">
                  <a:moveTo>
                    <a:pt x="0" y="0"/>
                  </a:moveTo>
                  <a:lnTo>
                    <a:pt x="660985" y="0"/>
                  </a:lnTo>
                  <a:lnTo>
                    <a:pt x="660985" y="462690"/>
                  </a:lnTo>
                  <a:lnTo>
                    <a:pt x="0" y="462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9FF79F69-F325-9BEE-5DA3-3C22DBF92E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5010" y="2921199"/>
            <a:ext cx="3209914" cy="2868806"/>
          </a:xfrm>
          <a:prstGeom prst="rect">
            <a:avLst/>
          </a:prstGeom>
          <a:ln w="76200">
            <a:solidFill>
              <a:srgbClr val="FFC000"/>
            </a:solidFill>
          </a:ln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2B581202-E534-9608-710C-06FC24172A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78870" y="2953437"/>
            <a:ext cx="3104120" cy="2910810"/>
          </a:xfrm>
          <a:prstGeom prst="rect">
            <a:avLst/>
          </a:prstGeom>
          <a:ln w="76200">
            <a:solidFill>
              <a:srgbClr val="FFC000"/>
            </a:solidFill>
          </a:ln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BACA199-71C2-2A70-B71F-1CA71006C7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5542" y="5303553"/>
            <a:ext cx="3226054" cy="2926047"/>
          </a:xfrm>
          <a:prstGeom prst="rect">
            <a:avLst/>
          </a:prstGeom>
          <a:ln w="76200">
            <a:solidFill>
              <a:srgbClr val="FFC000"/>
            </a:solidFill>
          </a:ln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2E027992-4323-1BF7-8415-EFE07695E80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75897" y="4138821"/>
            <a:ext cx="3163395" cy="2836568"/>
          </a:xfrm>
          <a:prstGeom prst="rect">
            <a:avLst/>
          </a:prstGeom>
          <a:ln w="76200">
            <a:solidFill>
              <a:schemeClr val="tx2"/>
            </a:solidFill>
          </a:ln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D8ACCF9C-FDD0-73AA-DE96-094B1EDF93C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79910" y="4138821"/>
            <a:ext cx="3230035" cy="2836568"/>
          </a:xfrm>
          <a:prstGeom prst="rect">
            <a:avLst/>
          </a:prstGeom>
          <a:ln w="76200">
            <a:solidFill>
              <a:schemeClr val="tx2"/>
            </a:solidFill>
          </a:ln>
        </p:spPr>
      </p:pic>
      <p:sp>
        <p:nvSpPr>
          <p:cNvPr id="64" name="TextBox 10">
            <a:extLst>
              <a:ext uri="{FF2B5EF4-FFF2-40B4-BE49-F238E27FC236}">
                <a16:creationId xmlns:a16="http://schemas.microsoft.com/office/drawing/2014/main" id="{B9F35F6F-E4B0-4338-7029-59548C181E80}"/>
              </a:ext>
            </a:extLst>
          </p:cNvPr>
          <p:cNvSpPr txBox="1"/>
          <p:nvPr/>
        </p:nvSpPr>
        <p:spPr>
          <a:xfrm>
            <a:off x="322184" y="5974914"/>
            <a:ext cx="3226054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MANAHAN,</a:t>
            </a:r>
          </a:p>
          <a:p>
            <a:pPr algn="ctr"/>
            <a:r>
              <a:rPr lang="en-US" sz="28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JOHN FELIX R.</a:t>
            </a:r>
          </a:p>
        </p:txBody>
      </p:sp>
      <p:sp>
        <p:nvSpPr>
          <p:cNvPr id="65" name="TextBox 10">
            <a:extLst>
              <a:ext uri="{FF2B5EF4-FFF2-40B4-BE49-F238E27FC236}">
                <a16:creationId xmlns:a16="http://schemas.microsoft.com/office/drawing/2014/main" id="{BC8702E5-B0CA-E1B7-9A85-70E0E2856A90}"/>
              </a:ext>
            </a:extLst>
          </p:cNvPr>
          <p:cNvSpPr txBox="1"/>
          <p:nvPr/>
        </p:nvSpPr>
        <p:spPr>
          <a:xfrm>
            <a:off x="3910888" y="7189853"/>
            <a:ext cx="3259712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NOVELOZO,</a:t>
            </a:r>
          </a:p>
          <a:p>
            <a:pPr algn="ctr"/>
            <a:r>
              <a:rPr lang="en-US" sz="28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RACELL JAY C.</a:t>
            </a:r>
          </a:p>
        </p:txBody>
      </p:sp>
      <p:sp>
        <p:nvSpPr>
          <p:cNvPr id="66" name="TextBox 10">
            <a:extLst>
              <a:ext uri="{FF2B5EF4-FFF2-40B4-BE49-F238E27FC236}">
                <a16:creationId xmlns:a16="http://schemas.microsoft.com/office/drawing/2014/main" id="{2A5B7804-197F-DE73-029F-722DCC75E55B}"/>
              </a:ext>
            </a:extLst>
          </p:cNvPr>
          <p:cNvSpPr txBox="1"/>
          <p:nvPr/>
        </p:nvSpPr>
        <p:spPr>
          <a:xfrm>
            <a:off x="7454069" y="8488859"/>
            <a:ext cx="3429000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DE LEON,</a:t>
            </a:r>
          </a:p>
          <a:p>
            <a:pPr algn="ctr"/>
            <a:r>
              <a:rPr lang="en-US" sz="28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QUEENIE A.</a:t>
            </a:r>
          </a:p>
        </p:txBody>
      </p:sp>
      <p:sp>
        <p:nvSpPr>
          <p:cNvPr id="67" name="TextBox 10">
            <a:extLst>
              <a:ext uri="{FF2B5EF4-FFF2-40B4-BE49-F238E27FC236}">
                <a16:creationId xmlns:a16="http://schemas.microsoft.com/office/drawing/2014/main" id="{D3CAD8B2-755D-5162-D2CA-C1F670F6F101}"/>
              </a:ext>
            </a:extLst>
          </p:cNvPr>
          <p:cNvSpPr txBox="1"/>
          <p:nvPr/>
        </p:nvSpPr>
        <p:spPr>
          <a:xfrm>
            <a:off x="11114208" y="7189852"/>
            <a:ext cx="3361437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PATAJO,</a:t>
            </a:r>
          </a:p>
          <a:p>
            <a:pPr algn="ctr"/>
            <a:r>
              <a:rPr lang="en-US" sz="28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ODREI JOHN C.</a:t>
            </a:r>
          </a:p>
        </p:txBody>
      </p:sp>
      <p:sp>
        <p:nvSpPr>
          <p:cNvPr id="68" name="TextBox 10">
            <a:extLst>
              <a:ext uri="{FF2B5EF4-FFF2-40B4-BE49-F238E27FC236}">
                <a16:creationId xmlns:a16="http://schemas.microsoft.com/office/drawing/2014/main" id="{36CD9FB3-BE6D-C536-585D-BDBE021B3113}"/>
              </a:ext>
            </a:extLst>
          </p:cNvPr>
          <p:cNvSpPr txBox="1"/>
          <p:nvPr/>
        </p:nvSpPr>
        <p:spPr>
          <a:xfrm>
            <a:off x="14823499" y="6023863"/>
            <a:ext cx="3230035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OCHOCO,</a:t>
            </a:r>
          </a:p>
          <a:p>
            <a:pPr algn="ctr"/>
            <a:r>
              <a:rPr lang="en-US" sz="28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JOHN </a:t>
            </a:r>
            <a:r>
              <a:rPr lang="en-US" sz="2800" b="1">
                <a:latin typeface="Poppins Light" panose="00000400000000000000" pitchFamily="2" charset="0"/>
                <a:cs typeface="Poppins Light" panose="00000400000000000000" pitchFamily="2" charset="0"/>
              </a:rPr>
              <a:t>PATRICK B</a:t>
            </a:r>
            <a:r>
              <a:rPr lang="en-US" sz="28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.</a:t>
            </a:r>
            <a:endParaRPr lang="en-PH" sz="28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82296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59300" y="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458869" y="1402166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3" y="0"/>
                </a:lnTo>
                <a:lnTo>
                  <a:pt x="7417733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-5411485" y="2045421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980EF3C-B737-4E6F-61AE-D98BA54DD631}"/>
              </a:ext>
            </a:extLst>
          </p:cNvPr>
          <p:cNvSpPr txBox="1">
            <a:spLocks/>
          </p:cNvSpPr>
          <p:nvPr/>
        </p:nvSpPr>
        <p:spPr>
          <a:xfrm>
            <a:off x="4242463" y="1395396"/>
            <a:ext cx="10689056" cy="145860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PH" sz="6000" b="1" dirty="0">
                <a:latin typeface="Trebuchet MS" panose="020B0603020202020204" pitchFamily="34" charset="0"/>
              </a:rPr>
              <a:t>Project Overview &amp; Problem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04C8B0B9-3963-9401-6408-93B0C4E70745}"/>
              </a:ext>
            </a:extLst>
          </p:cNvPr>
          <p:cNvSpPr txBox="1">
            <a:spLocks/>
          </p:cNvSpPr>
          <p:nvPr/>
        </p:nvSpPr>
        <p:spPr>
          <a:xfrm>
            <a:off x="1689685" y="3346870"/>
            <a:ext cx="15794612" cy="5758365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5000" dirty="0">
                <a:latin typeface="Trebuchet MS" panose="020B0603020202020204" pitchFamily="34" charset="0"/>
              </a:rPr>
              <a:t>What is </a:t>
            </a:r>
            <a:r>
              <a:rPr lang="en-US" sz="5000" b="1" dirty="0" err="1">
                <a:latin typeface="Trebuchet MS" panose="020B0603020202020204" pitchFamily="34" charset="0"/>
              </a:rPr>
              <a:t>GradePilot</a:t>
            </a:r>
            <a:r>
              <a:rPr lang="en-US" sz="5000" dirty="0">
                <a:latin typeface="Trebuchet MS" panose="020B0603020202020204" pitchFamily="34" charset="0"/>
              </a:rPr>
              <a:t>?</a:t>
            </a:r>
          </a:p>
          <a:p>
            <a:pPr marL="0" indent="0">
              <a:buFont typeface="Arial" pitchFamily="34" charset="0"/>
              <a:buNone/>
            </a:pPr>
            <a:r>
              <a:rPr lang="en-US" sz="5000" dirty="0">
                <a:latin typeface="Trebuchet MS" panose="020B0603020202020204" pitchFamily="34" charset="0"/>
              </a:rPr>
              <a:t>• AI prediction system for Mathematics &amp; Portuguese courses</a:t>
            </a:r>
          </a:p>
          <a:p>
            <a:pPr marL="0" indent="0">
              <a:buFont typeface="Arial" pitchFamily="34" charset="0"/>
              <a:buNone/>
            </a:pPr>
            <a:r>
              <a:rPr lang="en-US" sz="5000" dirty="0">
                <a:latin typeface="Trebuchet MS" panose="020B0603020202020204" pitchFamily="34" charset="0"/>
              </a:rPr>
              <a:t>• Provides Pass/Fail classification with grade prediction</a:t>
            </a:r>
          </a:p>
          <a:p>
            <a:pPr marL="0" indent="0">
              <a:buFont typeface="Arial" pitchFamily="34" charset="0"/>
              <a:buNone/>
            </a:pPr>
            <a:r>
              <a:rPr lang="en-US" sz="5000" dirty="0">
                <a:latin typeface="Trebuchet MS" panose="020B0603020202020204" pitchFamily="34" charset="0"/>
              </a:rPr>
              <a:t>• Early intervention tool for educators and students</a:t>
            </a:r>
          </a:p>
          <a:p>
            <a:pPr marL="0" indent="0">
              <a:buFont typeface="Arial" pitchFamily="34" charset="0"/>
              <a:buNone/>
            </a:pPr>
            <a:r>
              <a:rPr lang="en-US" sz="5000" dirty="0">
                <a:latin typeface="Trebuchet MS" panose="020B0603020202020204" pitchFamily="34" charset="0"/>
              </a:rPr>
              <a:t>• Addresses need for data-driven educational decisions</a:t>
            </a:r>
            <a:endParaRPr lang="en-PH" sz="5000" dirty="0">
              <a:latin typeface="Trebuchet MS" panose="020B060302020202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EBE05AC-5628-3134-CF8E-C48ECB29E8D9}"/>
              </a:ext>
            </a:extLst>
          </p:cNvPr>
          <p:cNvGrpSpPr/>
          <p:nvPr/>
        </p:nvGrpSpPr>
        <p:grpSpPr>
          <a:xfrm>
            <a:off x="1537363" y="9309546"/>
            <a:ext cx="5410200" cy="637045"/>
            <a:chOff x="489551" y="914734"/>
            <a:chExt cx="4709920" cy="561682"/>
          </a:xfrm>
        </p:grpSpPr>
        <p:sp>
          <p:nvSpPr>
            <p:cNvPr id="33" name="TextBox 8">
              <a:extLst>
                <a:ext uri="{FF2B5EF4-FFF2-40B4-BE49-F238E27FC236}">
                  <a16:creationId xmlns:a16="http://schemas.microsoft.com/office/drawing/2014/main" id="{33980273-225D-0056-6394-32CB4E4F10E5}"/>
                </a:ext>
              </a:extLst>
            </p:cNvPr>
            <p:cNvSpPr txBox="1"/>
            <p:nvPr/>
          </p:nvSpPr>
          <p:spPr>
            <a:xfrm>
              <a:off x="1465671" y="1169153"/>
              <a:ext cx="3733800" cy="3072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3200" dirty="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The J-Squad + Q</a:t>
              </a:r>
            </a:p>
          </p:txBody>
        </p:sp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93DAB23D-18F0-2D46-0F05-667B23417121}"/>
                </a:ext>
              </a:extLst>
            </p:cNvPr>
            <p:cNvSpPr/>
            <p:nvPr/>
          </p:nvSpPr>
          <p:spPr>
            <a:xfrm>
              <a:off x="489551" y="914734"/>
              <a:ext cx="749533" cy="561682"/>
            </a:xfrm>
            <a:custGeom>
              <a:avLst/>
              <a:gdLst/>
              <a:ahLst/>
              <a:cxnLst/>
              <a:rect l="l" t="t" r="r" b="b"/>
              <a:pathLst>
                <a:path w="660985" h="462690">
                  <a:moveTo>
                    <a:pt x="0" y="0"/>
                  </a:moveTo>
                  <a:lnTo>
                    <a:pt x="660985" y="0"/>
                  </a:lnTo>
                  <a:lnTo>
                    <a:pt x="660985" y="462690"/>
                  </a:lnTo>
                  <a:lnTo>
                    <a:pt x="0" y="462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</p:spTree>
    <p:extLst>
      <p:ext uri="{BB962C8B-B14F-4D97-AF65-F5344CB8AC3E}">
        <p14:creationId xmlns:p14="http://schemas.microsoft.com/office/powerpoint/2010/main" val="2776298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82296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59300" y="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458869" y="1402166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3" y="0"/>
                </a:lnTo>
                <a:lnTo>
                  <a:pt x="7417733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-5411485" y="2045421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980EF3C-B737-4E6F-61AE-D98BA54DD631}"/>
              </a:ext>
            </a:extLst>
          </p:cNvPr>
          <p:cNvSpPr txBox="1">
            <a:spLocks/>
          </p:cNvSpPr>
          <p:nvPr/>
        </p:nvSpPr>
        <p:spPr>
          <a:xfrm>
            <a:off x="5806678" y="1432732"/>
            <a:ext cx="6730337" cy="145860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PH" sz="6000" b="1" dirty="0">
                <a:latin typeface="Trebuchet MS" panose="020B0603020202020204" pitchFamily="34" charset="0"/>
              </a:rPr>
              <a:t>Dataset Overview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04C8B0B9-3963-9401-6408-93B0C4E70745}"/>
              </a:ext>
            </a:extLst>
          </p:cNvPr>
          <p:cNvSpPr txBox="1">
            <a:spLocks/>
          </p:cNvSpPr>
          <p:nvPr/>
        </p:nvSpPr>
        <p:spPr>
          <a:xfrm>
            <a:off x="1794482" y="3290313"/>
            <a:ext cx="15379115" cy="5195386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 u="sng" dirty="0">
                <a:latin typeface="Trebuchet MS" panose="020B0603020202020204" pitchFamily="34" charset="0"/>
              </a:rPr>
              <a:t>Data Understanding</a:t>
            </a:r>
          </a:p>
          <a:p>
            <a:pPr marL="0" indent="0">
              <a:buNone/>
            </a:pPr>
            <a:r>
              <a:rPr lang="en-US" sz="5400" dirty="0">
                <a:latin typeface="Trebuchet MS" panose="020B0603020202020204" pitchFamily="34" charset="0"/>
              </a:rPr>
              <a:t>1. </a:t>
            </a:r>
            <a:r>
              <a:rPr lang="en-US" sz="5400" b="1" dirty="0">
                <a:latin typeface="Trebuchet MS" panose="020B0603020202020204" pitchFamily="34" charset="0"/>
              </a:rPr>
              <a:t>Source: </a:t>
            </a:r>
            <a:r>
              <a:rPr lang="en-US" sz="5400" dirty="0">
                <a:latin typeface="Trebuchet MS" panose="020B0603020202020204" pitchFamily="34" charset="0"/>
              </a:rPr>
              <a:t>Portuguese secondary education student data</a:t>
            </a:r>
          </a:p>
          <a:p>
            <a:pPr marL="0" indent="0">
              <a:buNone/>
            </a:pPr>
            <a:r>
              <a:rPr lang="en-US" sz="5400" dirty="0">
                <a:latin typeface="Trebuchet MS" panose="020B0603020202020204" pitchFamily="34" charset="0"/>
              </a:rPr>
              <a:t>2. </a:t>
            </a:r>
            <a:r>
              <a:rPr lang="en-US" sz="5400" b="1" dirty="0">
                <a:latin typeface="Trebuchet MS" panose="020B0603020202020204" pitchFamily="34" charset="0"/>
              </a:rPr>
              <a:t>Scale: </a:t>
            </a:r>
            <a:r>
              <a:rPr lang="en-US" sz="5400" dirty="0">
                <a:latin typeface="Trebuchet MS" panose="020B0603020202020204" pitchFamily="34" charset="0"/>
              </a:rPr>
              <a:t>649 student records (Math + Portuguese combined)</a:t>
            </a:r>
          </a:p>
          <a:p>
            <a:pPr marL="0" indent="0">
              <a:buNone/>
            </a:pPr>
            <a:r>
              <a:rPr lang="en-US" sz="5400" dirty="0">
                <a:latin typeface="Trebuchet MS" panose="020B0603020202020204" pitchFamily="34" charset="0"/>
              </a:rPr>
              <a:t>3. </a:t>
            </a:r>
            <a:r>
              <a:rPr lang="en-US" sz="5400" b="1" dirty="0">
                <a:latin typeface="Trebuchet MS" panose="020B0603020202020204" pitchFamily="34" charset="0"/>
              </a:rPr>
              <a:t>Features: </a:t>
            </a:r>
            <a:r>
              <a:rPr lang="en-US" sz="5400" dirty="0">
                <a:latin typeface="Trebuchet MS" panose="020B0603020202020204" pitchFamily="34" charset="0"/>
              </a:rPr>
              <a:t>33 original attributes covering:</a:t>
            </a:r>
          </a:p>
          <a:p>
            <a:pPr marL="0" indent="0">
              <a:buNone/>
            </a:pPr>
            <a:r>
              <a:rPr lang="en-PH" sz="5400" dirty="0">
                <a:latin typeface="Trebuchet MS" panose="020B0603020202020204" pitchFamily="34" charset="0"/>
              </a:rPr>
              <a:t>	- </a:t>
            </a:r>
            <a:r>
              <a:rPr lang="en-US" sz="5400" dirty="0">
                <a:latin typeface="Trebuchet MS" panose="020B0603020202020204" pitchFamily="34" charset="0"/>
              </a:rPr>
              <a:t>Academic performance (G1, G2, G3 grades)</a:t>
            </a:r>
          </a:p>
          <a:p>
            <a:pPr marL="0" indent="0">
              <a:buNone/>
            </a:pPr>
            <a:r>
              <a:rPr lang="en-US" sz="5400" dirty="0">
                <a:latin typeface="Trebuchet MS" panose="020B0603020202020204" pitchFamily="34" charset="0"/>
              </a:rPr>
              <a:t>	- Demographics (age, sex, family background)</a:t>
            </a:r>
          </a:p>
          <a:p>
            <a:pPr marL="0" indent="0">
              <a:buNone/>
            </a:pPr>
            <a:r>
              <a:rPr lang="en-US" sz="5400" dirty="0">
                <a:latin typeface="Trebuchet MS" panose="020B0603020202020204" pitchFamily="34" charset="0"/>
              </a:rPr>
              <a:t>	- Study habits (study time, support systems)</a:t>
            </a:r>
          </a:p>
          <a:p>
            <a:pPr marL="0" indent="0">
              <a:buNone/>
            </a:pPr>
            <a:r>
              <a:rPr lang="en-US" sz="5400" dirty="0">
                <a:latin typeface="Trebuchet MS" panose="020B0603020202020204" pitchFamily="34" charset="0"/>
              </a:rPr>
              <a:t>	- Social factors (health, absences, activities)</a:t>
            </a:r>
          </a:p>
          <a:p>
            <a:pPr marL="0" indent="0">
              <a:buNone/>
            </a:pPr>
            <a:endParaRPr lang="en-PH" sz="5400" dirty="0">
              <a:latin typeface="Trebuchet MS" panose="020B060302020202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EBE05AC-5628-3134-CF8E-C48ECB29E8D9}"/>
              </a:ext>
            </a:extLst>
          </p:cNvPr>
          <p:cNvGrpSpPr/>
          <p:nvPr/>
        </p:nvGrpSpPr>
        <p:grpSpPr>
          <a:xfrm>
            <a:off x="1537363" y="9309546"/>
            <a:ext cx="5410200" cy="637045"/>
            <a:chOff x="489551" y="914734"/>
            <a:chExt cx="4709920" cy="561682"/>
          </a:xfrm>
        </p:grpSpPr>
        <p:sp>
          <p:nvSpPr>
            <p:cNvPr id="33" name="TextBox 8">
              <a:extLst>
                <a:ext uri="{FF2B5EF4-FFF2-40B4-BE49-F238E27FC236}">
                  <a16:creationId xmlns:a16="http://schemas.microsoft.com/office/drawing/2014/main" id="{33980273-225D-0056-6394-32CB4E4F10E5}"/>
                </a:ext>
              </a:extLst>
            </p:cNvPr>
            <p:cNvSpPr txBox="1"/>
            <p:nvPr/>
          </p:nvSpPr>
          <p:spPr>
            <a:xfrm>
              <a:off x="1465671" y="1169153"/>
              <a:ext cx="3733800" cy="3072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3200" dirty="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The J-Squad + Q</a:t>
              </a:r>
            </a:p>
          </p:txBody>
        </p:sp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93DAB23D-18F0-2D46-0F05-667B23417121}"/>
                </a:ext>
              </a:extLst>
            </p:cNvPr>
            <p:cNvSpPr/>
            <p:nvPr/>
          </p:nvSpPr>
          <p:spPr>
            <a:xfrm>
              <a:off x="489551" y="914734"/>
              <a:ext cx="749533" cy="561682"/>
            </a:xfrm>
            <a:custGeom>
              <a:avLst/>
              <a:gdLst/>
              <a:ahLst/>
              <a:cxnLst/>
              <a:rect l="l" t="t" r="r" b="b"/>
              <a:pathLst>
                <a:path w="660985" h="462690">
                  <a:moveTo>
                    <a:pt x="0" y="0"/>
                  </a:moveTo>
                  <a:lnTo>
                    <a:pt x="660985" y="0"/>
                  </a:lnTo>
                  <a:lnTo>
                    <a:pt x="660985" y="462690"/>
                  </a:lnTo>
                  <a:lnTo>
                    <a:pt x="0" y="462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B83506CC-65BD-0A3F-0AE0-AC13E30AC1C2}"/>
              </a:ext>
            </a:extLst>
          </p:cNvPr>
          <p:cNvSpPr txBox="1">
            <a:spLocks/>
          </p:cNvSpPr>
          <p:nvPr/>
        </p:nvSpPr>
        <p:spPr>
          <a:xfrm>
            <a:off x="304800" y="247500"/>
            <a:ext cx="7279430" cy="4562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i="0" dirty="0">
                <a:effectLst/>
                <a:latin typeface="Trebuchet MS" panose="020B0603020202020204" pitchFamily="34" charset="0"/>
              </a:rPr>
              <a:t>A</a:t>
            </a:r>
            <a:r>
              <a:rPr lang="en-US" sz="3000" dirty="0">
                <a:latin typeface="Trebuchet MS" panose="020B0603020202020204" pitchFamily="34" charset="0"/>
              </a:rPr>
              <a:t>.</a:t>
            </a:r>
            <a:r>
              <a:rPr lang="en-US" sz="3000" i="0" dirty="0">
                <a:effectLst/>
                <a:latin typeface="Trebuchet MS" panose="020B0603020202020204" pitchFamily="34" charset="0"/>
              </a:rPr>
              <a:t> DATA UNDERSTANDING &amp; PREPARATION</a:t>
            </a:r>
          </a:p>
        </p:txBody>
      </p:sp>
    </p:spTree>
    <p:extLst>
      <p:ext uri="{BB962C8B-B14F-4D97-AF65-F5344CB8AC3E}">
        <p14:creationId xmlns:p14="http://schemas.microsoft.com/office/powerpoint/2010/main" val="1486754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82296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59300" y="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458869" y="1402166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3" y="0"/>
                </a:lnTo>
                <a:lnTo>
                  <a:pt x="7417733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-5411485" y="2045421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980EF3C-B737-4E6F-61AE-D98BA54DD631}"/>
              </a:ext>
            </a:extLst>
          </p:cNvPr>
          <p:cNvSpPr txBox="1">
            <a:spLocks/>
          </p:cNvSpPr>
          <p:nvPr/>
        </p:nvSpPr>
        <p:spPr>
          <a:xfrm>
            <a:off x="3757728" y="1209258"/>
            <a:ext cx="11452622" cy="145860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PH" sz="6000" b="1" dirty="0">
                <a:latin typeface="Trebuchet MS" panose="020B0603020202020204" pitchFamily="34" charset="0"/>
              </a:rPr>
              <a:t>Exploratory Data Analysis (EDA)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04C8B0B9-3963-9401-6408-93B0C4E70745}"/>
              </a:ext>
            </a:extLst>
          </p:cNvPr>
          <p:cNvSpPr txBox="1">
            <a:spLocks/>
          </p:cNvSpPr>
          <p:nvPr/>
        </p:nvSpPr>
        <p:spPr>
          <a:xfrm>
            <a:off x="1537363" y="2986526"/>
            <a:ext cx="15379115" cy="583337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300" u="sng" dirty="0">
                <a:latin typeface="Trebuchet MS" panose="020B0603020202020204" pitchFamily="34" charset="0"/>
              </a:rPr>
              <a:t>Key Data Insights</a:t>
            </a:r>
          </a:p>
          <a:p>
            <a:pPr marL="0" indent="0">
              <a:buNone/>
            </a:pPr>
            <a:r>
              <a:rPr lang="en-US" sz="4300" dirty="0">
                <a:latin typeface="Trebuchet MS" panose="020B0603020202020204" pitchFamily="34" charset="0"/>
              </a:rPr>
              <a:t>1. </a:t>
            </a:r>
            <a:r>
              <a:rPr lang="en-US" sz="4300" b="1" dirty="0">
                <a:latin typeface="Trebuchet MS" panose="020B0603020202020204" pitchFamily="34" charset="0"/>
              </a:rPr>
              <a:t>Grade Distribution</a:t>
            </a:r>
            <a:r>
              <a:rPr lang="en-US" sz="4300" dirty="0">
                <a:latin typeface="Trebuchet MS" panose="020B0603020202020204" pitchFamily="34" charset="0"/>
              </a:rPr>
              <a:t>: Final grades (G3) range 0-20 scale</a:t>
            </a:r>
          </a:p>
          <a:p>
            <a:pPr marL="0" indent="0">
              <a:buNone/>
            </a:pPr>
            <a:r>
              <a:rPr lang="en-US" sz="4300" dirty="0">
                <a:latin typeface="Trebuchet MS" panose="020B0603020202020204" pitchFamily="34" charset="0"/>
              </a:rPr>
              <a:t>2. </a:t>
            </a:r>
            <a:r>
              <a:rPr lang="en-US" sz="4300" b="1" dirty="0">
                <a:latin typeface="Trebuchet MS" panose="020B0603020202020204" pitchFamily="34" charset="0"/>
              </a:rPr>
              <a:t>Pass/Fail Threshold</a:t>
            </a:r>
            <a:r>
              <a:rPr lang="en-US" sz="4300" dirty="0">
                <a:latin typeface="Trebuchet MS" panose="020B0603020202020204" pitchFamily="34" charset="0"/>
              </a:rPr>
              <a:t>: Grade ≥ 10 = Pass, &lt; 10 = Fail</a:t>
            </a:r>
          </a:p>
          <a:p>
            <a:pPr marL="0" indent="0">
              <a:buNone/>
            </a:pPr>
            <a:r>
              <a:rPr lang="en-US" sz="4300" dirty="0">
                <a:latin typeface="Trebuchet MS" panose="020B0603020202020204" pitchFamily="34" charset="0"/>
              </a:rPr>
              <a:t>3. </a:t>
            </a:r>
            <a:r>
              <a:rPr lang="en-US" sz="4300" b="1" dirty="0">
                <a:latin typeface="Trebuchet MS" panose="020B0603020202020204" pitchFamily="34" charset="0"/>
              </a:rPr>
              <a:t>Class Balance</a:t>
            </a:r>
            <a:r>
              <a:rPr lang="en-US" sz="4300" dirty="0">
                <a:latin typeface="Trebuchet MS" panose="020B0603020202020204" pitchFamily="34" charset="0"/>
              </a:rPr>
              <a:t>: ~73% Pass rate, ~27% Fail rate</a:t>
            </a:r>
          </a:p>
          <a:p>
            <a:pPr marL="0" indent="0">
              <a:buNone/>
            </a:pPr>
            <a:r>
              <a:rPr lang="en-US" sz="4300" dirty="0">
                <a:latin typeface="Trebuchet MS" panose="020B0603020202020204" pitchFamily="34" charset="0"/>
              </a:rPr>
              <a:t>4. </a:t>
            </a:r>
            <a:r>
              <a:rPr lang="en-US" sz="4300" b="1" dirty="0">
                <a:latin typeface="Trebuchet MS" panose="020B0603020202020204" pitchFamily="34" charset="0"/>
              </a:rPr>
              <a:t>Key Correlations</a:t>
            </a:r>
            <a:r>
              <a:rPr lang="en-US" sz="4300" dirty="0">
                <a:latin typeface="Trebuchet MS" panose="020B0603020202020204" pitchFamily="34" charset="0"/>
              </a:rPr>
              <a:t>: Previous grades (G1, G2) strongly predict G3</a:t>
            </a:r>
          </a:p>
          <a:p>
            <a:pPr marL="0" indent="0">
              <a:buNone/>
            </a:pPr>
            <a:r>
              <a:rPr lang="en-US" sz="4300" dirty="0">
                <a:latin typeface="Trebuchet MS" panose="020B0603020202020204" pitchFamily="34" charset="0"/>
              </a:rPr>
              <a:t>5. </a:t>
            </a:r>
            <a:r>
              <a:rPr lang="en-US" sz="4300" b="1" dirty="0">
                <a:latin typeface="Trebuchet MS" panose="020B0603020202020204" pitchFamily="34" charset="0"/>
              </a:rPr>
              <a:t>No Missing Value</a:t>
            </a:r>
            <a:r>
              <a:rPr lang="en-US" sz="4300" dirty="0">
                <a:latin typeface="Trebuchet MS" panose="020B0603020202020204" pitchFamily="34" charset="0"/>
              </a:rPr>
              <a:t>: Complete dataset ready for processing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EBE05AC-5628-3134-CF8E-C48ECB29E8D9}"/>
              </a:ext>
            </a:extLst>
          </p:cNvPr>
          <p:cNvGrpSpPr/>
          <p:nvPr/>
        </p:nvGrpSpPr>
        <p:grpSpPr>
          <a:xfrm>
            <a:off x="1537363" y="9309546"/>
            <a:ext cx="5410200" cy="637045"/>
            <a:chOff x="489551" y="914734"/>
            <a:chExt cx="4709920" cy="561682"/>
          </a:xfrm>
        </p:grpSpPr>
        <p:sp>
          <p:nvSpPr>
            <p:cNvPr id="33" name="TextBox 8">
              <a:extLst>
                <a:ext uri="{FF2B5EF4-FFF2-40B4-BE49-F238E27FC236}">
                  <a16:creationId xmlns:a16="http://schemas.microsoft.com/office/drawing/2014/main" id="{33980273-225D-0056-6394-32CB4E4F10E5}"/>
                </a:ext>
              </a:extLst>
            </p:cNvPr>
            <p:cNvSpPr txBox="1"/>
            <p:nvPr/>
          </p:nvSpPr>
          <p:spPr>
            <a:xfrm>
              <a:off x="1465671" y="1169153"/>
              <a:ext cx="3733800" cy="3072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3200" dirty="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The J-Squad + Q</a:t>
              </a:r>
            </a:p>
          </p:txBody>
        </p:sp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93DAB23D-18F0-2D46-0F05-667B23417121}"/>
                </a:ext>
              </a:extLst>
            </p:cNvPr>
            <p:cNvSpPr/>
            <p:nvPr/>
          </p:nvSpPr>
          <p:spPr>
            <a:xfrm>
              <a:off x="489551" y="914734"/>
              <a:ext cx="749533" cy="561682"/>
            </a:xfrm>
            <a:custGeom>
              <a:avLst/>
              <a:gdLst/>
              <a:ahLst/>
              <a:cxnLst/>
              <a:rect l="l" t="t" r="r" b="b"/>
              <a:pathLst>
                <a:path w="660985" h="462690">
                  <a:moveTo>
                    <a:pt x="0" y="0"/>
                  </a:moveTo>
                  <a:lnTo>
                    <a:pt x="660985" y="0"/>
                  </a:lnTo>
                  <a:lnTo>
                    <a:pt x="660985" y="462690"/>
                  </a:lnTo>
                  <a:lnTo>
                    <a:pt x="0" y="462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B83506CC-65BD-0A3F-0AE0-AC13E30AC1C2}"/>
              </a:ext>
            </a:extLst>
          </p:cNvPr>
          <p:cNvSpPr txBox="1">
            <a:spLocks/>
          </p:cNvSpPr>
          <p:nvPr/>
        </p:nvSpPr>
        <p:spPr>
          <a:xfrm>
            <a:off x="304800" y="247500"/>
            <a:ext cx="7279430" cy="4562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i="0" dirty="0">
                <a:effectLst/>
                <a:latin typeface="Trebuchet MS" panose="020B0603020202020204" pitchFamily="34" charset="0"/>
              </a:rPr>
              <a:t>A</a:t>
            </a:r>
            <a:r>
              <a:rPr lang="en-US" sz="3000" dirty="0">
                <a:latin typeface="Trebuchet MS" panose="020B0603020202020204" pitchFamily="34" charset="0"/>
              </a:rPr>
              <a:t>.</a:t>
            </a:r>
            <a:r>
              <a:rPr lang="en-US" sz="3000" i="0" dirty="0">
                <a:effectLst/>
                <a:latin typeface="Trebuchet MS" panose="020B0603020202020204" pitchFamily="34" charset="0"/>
              </a:rPr>
              <a:t> DATA UNDERSTANDING &amp; PREPARATION</a:t>
            </a:r>
          </a:p>
        </p:txBody>
      </p:sp>
    </p:spTree>
    <p:extLst>
      <p:ext uri="{BB962C8B-B14F-4D97-AF65-F5344CB8AC3E}">
        <p14:creationId xmlns:p14="http://schemas.microsoft.com/office/powerpoint/2010/main" val="1169362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82296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59300" y="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458869" y="1402166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3" y="0"/>
                </a:lnTo>
                <a:lnTo>
                  <a:pt x="7417733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-5411485" y="2045421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980EF3C-B737-4E6F-61AE-D98BA54DD631}"/>
              </a:ext>
            </a:extLst>
          </p:cNvPr>
          <p:cNvSpPr txBox="1">
            <a:spLocks/>
          </p:cNvSpPr>
          <p:nvPr/>
        </p:nvSpPr>
        <p:spPr>
          <a:xfrm>
            <a:off x="4057284" y="1115845"/>
            <a:ext cx="10339272" cy="145860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PH" sz="6000" b="1" dirty="0">
                <a:latin typeface="Trebuchet MS" panose="020B0603020202020204" pitchFamily="34" charset="0"/>
              </a:rPr>
              <a:t>Data Preprocessing Pipeline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04C8B0B9-3963-9401-6408-93B0C4E70745}"/>
              </a:ext>
            </a:extLst>
          </p:cNvPr>
          <p:cNvSpPr txBox="1">
            <a:spLocks/>
          </p:cNvSpPr>
          <p:nvPr/>
        </p:nvSpPr>
        <p:spPr>
          <a:xfrm>
            <a:off x="1537363" y="2986526"/>
            <a:ext cx="15379115" cy="432882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300" dirty="0">
                <a:latin typeface="Trebuchet MS" panose="020B0603020202020204" pitchFamily="34" charset="0"/>
              </a:rPr>
              <a:t>1. </a:t>
            </a:r>
            <a:r>
              <a:rPr lang="en-US" sz="4300" b="1" dirty="0">
                <a:latin typeface="Trebuchet MS" panose="020B0603020202020204" pitchFamily="34" charset="0"/>
              </a:rPr>
              <a:t>Binary Classification</a:t>
            </a:r>
            <a:r>
              <a:rPr lang="en-US" sz="4300" dirty="0">
                <a:latin typeface="Trebuchet MS" panose="020B0603020202020204" pitchFamily="34" charset="0"/>
              </a:rPr>
              <a:t>: Convert G3 to Pass (≥10) / Fail (&lt;10)</a:t>
            </a:r>
          </a:p>
          <a:p>
            <a:pPr marL="0" indent="0">
              <a:buNone/>
            </a:pPr>
            <a:r>
              <a:rPr lang="en-US" sz="4300" dirty="0">
                <a:latin typeface="Trebuchet MS" panose="020B0603020202020204" pitchFamily="34" charset="0"/>
              </a:rPr>
              <a:t>2. </a:t>
            </a:r>
            <a:r>
              <a:rPr lang="en-US" sz="4300" b="1" dirty="0">
                <a:latin typeface="Trebuchet MS" panose="020B0603020202020204" pitchFamily="34" charset="0"/>
              </a:rPr>
              <a:t>Label Encoding</a:t>
            </a:r>
            <a:r>
              <a:rPr lang="en-US" sz="4300" dirty="0">
                <a:latin typeface="Trebuchet MS" panose="020B0603020202020204" pitchFamily="34" charset="0"/>
              </a:rPr>
              <a:t>: 17 categorical variables transformed to numeric</a:t>
            </a:r>
          </a:p>
          <a:p>
            <a:pPr marL="0" indent="0">
              <a:buNone/>
            </a:pPr>
            <a:r>
              <a:rPr lang="en-US" sz="4300" dirty="0">
                <a:latin typeface="Trebuchet MS" panose="020B0603020202020204" pitchFamily="34" charset="0"/>
              </a:rPr>
              <a:t>3. </a:t>
            </a:r>
            <a:r>
              <a:rPr lang="en-US" sz="4300" b="1" dirty="0">
                <a:latin typeface="Trebuchet MS" panose="020B0603020202020204" pitchFamily="34" charset="0"/>
              </a:rPr>
              <a:t>Feature Scaling</a:t>
            </a:r>
            <a:r>
              <a:rPr lang="en-US" sz="4300" dirty="0">
                <a:latin typeface="Trebuchet MS" panose="020B0603020202020204" pitchFamily="34" charset="0"/>
              </a:rPr>
              <a:t>: </a:t>
            </a:r>
            <a:r>
              <a:rPr lang="en-US" sz="4300" dirty="0" err="1">
                <a:latin typeface="Trebuchet MS" panose="020B0603020202020204" pitchFamily="34" charset="0"/>
              </a:rPr>
              <a:t>StandardScaler</a:t>
            </a:r>
            <a:r>
              <a:rPr lang="en-US" sz="4300" dirty="0">
                <a:latin typeface="Trebuchet MS" panose="020B0603020202020204" pitchFamily="34" charset="0"/>
              </a:rPr>
              <a:t> normalization applied</a:t>
            </a:r>
          </a:p>
          <a:p>
            <a:pPr marL="0" indent="0">
              <a:buNone/>
            </a:pPr>
            <a:r>
              <a:rPr lang="en-US" sz="4300" dirty="0">
                <a:latin typeface="Trebuchet MS" panose="020B0603020202020204" pitchFamily="34" charset="0"/>
              </a:rPr>
              <a:t>4. </a:t>
            </a:r>
            <a:r>
              <a:rPr lang="en-US" sz="4300" b="1" dirty="0">
                <a:latin typeface="Trebuchet MS" panose="020B0603020202020204" pitchFamily="34" charset="0"/>
              </a:rPr>
              <a:t>Train-Test Split</a:t>
            </a:r>
            <a:r>
              <a:rPr lang="en-US" sz="4300" dirty="0">
                <a:latin typeface="Trebuchet MS" panose="020B0603020202020204" pitchFamily="34" charset="0"/>
              </a:rPr>
              <a:t>: 80-20 stratified division (838 train, 210 test)</a:t>
            </a:r>
          </a:p>
          <a:p>
            <a:pPr marL="0" indent="0">
              <a:buNone/>
            </a:pPr>
            <a:r>
              <a:rPr lang="en-US" sz="4300" dirty="0">
                <a:latin typeface="Trebuchet MS" panose="020B0603020202020204" pitchFamily="34" charset="0"/>
              </a:rPr>
              <a:t>5. </a:t>
            </a:r>
            <a:r>
              <a:rPr lang="en-US" sz="4300" b="1" dirty="0">
                <a:latin typeface="Trebuchet MS" panose="020B0603020202020204" pitchFamily="34" charset="0"/>
              </a:rPr>
              <a:t>Feature Selection</a:t>
            </a:r>
            <a:r>
              <a:rPr lang="en-US" sz="4300" dirty="0">
                <a:latin typeface="Trebuchet MS" panose="020B0603020202020204" pitchFamily="34" charset="0"/>
              </a:rPr>
              <a:t>: Optimized to 17 most predictive attributes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EBE05AC-5628-3134-CF8E-C48ECB29E8D9}"/>
              </a:ext>
            </a:extLst>
          </p:cNvPr>
          <p:cNvGrpSpPr/>
          <p:nvPr/>
        </p:nvGrpSpPr>
        <p:grpSpPr>
          <a:xfrm>
            <a:off x="1537363" y="9309546"/>
            <a:ext cx="5410200" cy="637045"/>
            <a:chOff x="489551" y="914734"/>
            <a:chExt cx="4709920" cy="561682"/>
          </a:xfrm>
        </p:grpSpPr>
        <p:sp>
          <p:nvSpPr>
            <p:cNvPr id="33" name="TextBox 8">
              <a:extLst>
                <a:ext uri="{FF2B5EF4-FFF2-40B4-BE49-F238E27FC236}">
                  <a16:creationId xmlns:a16="http://schemas.microsoft.com/office/drawing/2014/main" id="{33980273-225D-0056-6394-32CB4E4F10E5}"/>
                </a:ext>
              </a:extLst>
            </p:cNvPr>
            <p:cNvSpPr txBox="1"/>
            <p:nvPr/>
          </p:nvSpPr>
          <p:spPr>
            <a:xfrm>
              <a:off x="1465671" y="1169153"/>
              <a:ext cx="3733800" cy="3072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3200" dirty="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The J-Squad + Q</a:t>
              </a:r>
            </a:p>
          </p:txBody>
        </p:sp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93DAB23D-18F0-2D46-0F05-667B23417121}"/>
                </a:ext>
              </a:extLst>
            </p:cNvPr>
            <p:cNvSpPr/>
            <p:nvPr/>
          </p:nvSpPr>
          <p:spPr>
            <a:xfrm>
              <a:off x="489551" y="914734"/>
              <a:ext cx="749533" cy="561682"/>
            </a:xfrm>
            <a:custGeom>
              <a:avLst/>
              <a:gdLst/>
              <a:ahLst/>
              <a:cxnLst/>
              <a:rect l="l" t="t" r="r" b="b"/>
              <a:pathLst>
                <a:path w="660985" h="462690">
                  <a:moveTo>
                    <a:pt x="0" y="0"/>
                  </a:moveTo>
                  <a:lnTo>
                    <a:pt x="660985" y="0"/>
                  </a:lnTo>
                  <a:lnTo>
                    <a:pt x="660985" y="462690"/>
                  </a:lnTo>
                  <a:lnTo>
                    <a:pt x="0" y="462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B83506CC-65BD-0A3F-0AE0-AC13E30AC1C2}"/>
              </a:ext>
            </a:extLst>
          </p:cNvPr>
          <p:cNvSpPr txBox="1">
            <a:spLocks/>
          </p:cNvSpPr>
          <p:nvPr/>
        </p:nvSpPr>
        <p:spPr>
          <a:xfrm>
            <a:off x="304800" y="247500"/>
            <a:ext cx="7279430" cy="4562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i="0" dirty="0">
                <a:effectLst/>
                <a:latin typeface="Trebuchet MS" panose="020B0603020202020204" pitchFamily="34" charset="0"/>
              </a:rPr>
              <a:t>A</a:t>
            </a:r>
            <a:r>
              <a:rPr lang="en-US" sz="3000" dirty="0">
                <a:latin typeface="Trebuchet MS" panose="020B0603020202020204" pitchFamily="34" charset="0"/>
              </a:rPr>
              <a:t>.</a:t>
            </a:r>
            <a:r>
              <a:rPr lang="en-US" sz="3000" i="0" dirty="0">
                <a:effectLst/>
                <a:latin typeface="Trebuchet MS" panose="020B0603020202020204" pitchFamily="34" charset="0"/>
              </a:rPr>
              <a:t> DATA UNDERSTANDING &amp; PREPARATION</a:t>
            </a:r>
          </a:p>
        </p:txBody>
      </p:sp>
    </p:spTree>
    <p:extLst>
      <p:ext uri="{BB962C8B-B14F-4D97-AF65-F5344CB8AC3E}">
        <p14:creationId xmlns:p14="http://schemas.microsoft.com/office/powerpoint/2010/main" val="1068219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82296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59300" y="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458869" y="1402166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3" y="0"/>
                </a:lnTo>
                <a:lnTo>
                  <a:pt x="7417733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-5411485" y="2045421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980EF3C-B737-4E6F-61AE-D98BA54DD631}"/>
              </a:ext>
            </a:extLst>
          </p:cNvPr>
          <p:cNvSpPr txBox="1">
            <a:spLocks/>
          </p:cNvSpPr>
          <p:nvPr/>
        </p:nvSpPr>
        <p:spPr>
          <a:xfrm>
            <a:off x="3405862" y="992327"/>
            <a:ext cx="11642115" cy="11722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PH" sz="6000" b="1" dirty="0">
                <a:latin typeface="Trebuchet MS" panose="020B0603020202020204" pitchFamily="34" charset="0"/>
              </a:rPr>
              <a:t>Machine Learning Architecture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EBE05AC-5628-3134-CF8E-C48ECB29E8D9}"/>
              </a:ext>
            </a:extLst>
          </p:cNvPr>
          <p:cNvGrpSpPr/>
          <p:nvPr/>
        </p:nvGrpSpPr>
        <p:grpSpPr>
          <a:xfrm>
            <a:off x="1537363" y="9309546"/>
            <a:ext cx="5410200" cy="637045"/>
            <a:chOff x="489551" y="914734"/>
            <a:chExt cx="4709920" cy="561682"/>
          </a:xfrm>
        </p:grpSpPr>
        <p:sp>
          <p:nvSpPr>
            <p:cNvPr id="33" name="TextBox 8">
              <a:extLst>
                <a:ext uri="{FF2B5EF4-FFF2-40B4-BE49-F238E27FC236}">
                  <a16:creationId xmlns:a16="http://schemas.microsoft.com/office/drawing/2014/main" id="{33980273-225D-0056-6394-32CB4E4F10E5}"/>
                </a:ext>
              </a:extLst>
            </p:cNvPr>
            <p:cNvSpPr txBox="1"/>
            <p:nvPr/>
          </p:nvSpPr>
          <p:spPr>
            <a:xfrm>
              <a:off x="1465671" y="1169153"/>
              <a:ext cx="3733800" cy="3072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3200" dirty="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The J-Squad + Q</a:t>
              </a:r>
            </a:p>
          </p:txBody>
        </p:sp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93DAB23D-18F0-2D46-0F05-667B23417121}"/>
                </a:ext>
              </a:extLst>
            </p:cNvPr>
            <p:cNvSpPr/>
            <p:nvPr/>
          </p:nvSpPr>
          <p:spPr>
            <a:xfrm>
              <a:off x="489551" y="914734"/>
              <a:ext cx="749533" cy="561682"/>
            </a:xfrm>
            <a:custGeom>
              <a:avLst/>
              <a:gdLst/>
              <a:ahLst/>
              <a:cxnLst/>
              <a:rect l="l" t="t" r="r" b="b"/>
              <a:pathLst>
                <a:path w="660985" h="462690">
                  <a:moveTo>
                    <a:pt x="0" y="0"/>
                  </a:moveTo>
                  <a:lnTo>
                    <a:pt x="660985" y="0"/>
                  </a:lnTo>
                  <a:lnTo>
                    <a:pt x="660985" y="462690"/>
                  </a:lnTo>
                  <a:lnTo>
                    <a:pt x="0" y="462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B83506CC-65BD-0A3F-0AE0-AC13E30AC1C2}"/>
              </a:ext>
            </a:extLst>
          </p:cNvPr>
          <p:cNvSpPr txBox="1">
            <a:spLocks/>
          </p:cNvSpPr>
          <p:nvPr/>
        </p:nvSpPr>
        <p:spPr>
          <a:xfrm>
            <a:off x="304800" y="247500"/>
            <a:ext cx="7279430" cy="4562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3200" i="0" dirty="0">
                <a:effectLst/>
                <a:latin typeface="Trebuchet MS" panose="020B0603020202020204" pitchFamily="34" charset="0"/>
              </a:rPr>
              <a:t>B. MODEL IMPLEMENTATION</a:t>
            </a:r>
            <a:endParaRPr lang="en-US" sz="3200" i="0" dirty="0">
              <a:effectLst/>
              <a:latin typeface="Trebuchet MS" panose="020B0603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BB587F-896E-FDAB-6500-E068130AB9B8}"/>
              </a:ext>
            </a:extLst>
          </p:cNvPr>
          <p:cNvSpPr txBox="1">
            <a:spLocks/>
          </p:cNvSpPr>
          <p:nvPr/>
        </p:nvSpPr>
        <p:spPr>
          <a:xfrm>
            <a:off x="1684285" y="2399870"/>
            <a:ext cx="15085268" cy="65552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4600" u="sng" dirty="0">
                <a:latin typeface="Trebuchet MS" panose="020B0603020202020204" pitchFamily="34" charset="0"/>
              </a:rPr>
              <a:t>Model Implementation Strategy</a:t>
            </a:r>
          </a:p>
          <a:p>
            <a:pPr marL="0" indent="0">
              <a:buFont typeface="Arial" pitchFamily="34" charset="0"/>
              <a:buNone/>
            </a:pPr>
            <a:r>
              <a:rPr lang="en-PH" sz="4600" dirty="0">
                <a:latin typeface="Trebuchet MS" panose="020B0603020202020204" pitchFamily="34" charset="0"/>
              </a:rPr>
              <a:t>1. </a:t>
            </a:r>
            <a:r>
              <a:rPr lang="en-PH" sz="4600" b="1" dirty="0">
                <a:latin typeface="Trebuchet MS" panose="020B0603020202020204" pitchFamily="34" charset="0"/>
              </a:rPr>
              <a:t>Algorithm Selection</a:t>
            </a:r>
            <a:r>
              <a:rPr lang="en-PH" sz="4600" dirty="0">
                <a:latin typeface="Trebuchet MS" panose="020B0603020202020204" pitchFamily="34" charset="0"/>
              </a:rPr>
              <a:t>: Random Forest, SVM, K-Nearest Neighbors</a:t>
            </a:r>
          </a:p>
          <a:p>
            <a:pPr marL="0" indent="0">
              <a:buFont typeface="Arial" pitchFamily="34" charset="0"/>
              <a:buNone/>
            </a:pPr>
            <a:r>
              <a:rPr lang="en-PH" sz="4600" dirty="0">
                <a:latin typeface="Trebuchet MS" panose="020B0603020202020204" pitchFamily="34" charset="0"/>
              </a:rPr>
              <a:t>2. </a:t>
            </a:r>
            <a:r>
              <a:rPr lang="en-PH" sz="4600" b="1" dirty="0">
                <a:latin typeface="Trebuchet MS" panose="020B0603020202020204" pitchFamily="34" charset="0"/>
              </a:rPr>
              <a:t>Classification Type</a:t>
            </a:r>
            <a:r>
              <a:rPr lang="en-PH" sz="4600" dirty="0">
                <a:latin typeface="Trebuchet MS" panose="020B0603020202020204" pitchFamily="34" charset="0"/>
              </a:rPr>
              <a:t>: Binary (Pass/Fail prediction)</a:t>
            </a:r>
          </a:p>
          <a:p>
            <a:pPr marL="0" indent="0">
              <a:buFont typeface="Arial" pitchFamily="34" charset="0"/>
              <a:buNone/>
            </a:pPr>
            <a:r>
              <a:rPr lang="en-PH" sz="4600" dirty="0">
                <a:latin typeface="Trebuchet MS" panose="020B0603020202020204" pitchFamily="34" charset="0"/>
              </a:rPr>
              <a:t>3. </a:t>
            </a:r>
            <a:r>
              <a:rPr lang="en-PH" sz="4600" b="1" dirty="0">
                <a:latin typeface="Trebuchet MS" panose="020B0603020202020204" pitchFamily="34" charset="0"/>
              </a:rPr>
              <a:t>Framework</a:t>
            </a:r>
            <a:r>
              <a:rPr lang="en-PH" sz="4600" dirty="0">
                <a:latin typeface="Trebuchet MS" panose="020B0603020202020204" pitchFamily="34" charset="0"/>
              </a:rPr>
              <a:t>: Scikit-learn implementation</a:t>
            </a:r>
          </a:p>
          <a:p>
            <a:pPr marL="0" indent="0">
              <a:buFont typeface="Arial" pitchFamily="34" charset="0"/>
              <a:buNone/>
            </a:pPr>
            <a:r>
              <a:rPr lang="en-PH" sz="4600" dirty="0">
                <a:latin typeface="Trebuchet MS" panose="020B0603020202020204" pitchFamily="34" charset="0"/>
              </a:rPr>
              <a:t>4. </a:t>
            </a:r>
            <a:r>
              <a:rPr lang="en-PH" sz="4600" b="1" dirty="0">
                <a:latin typeface="Trebuchet MS" panose="020B0603020202020204" pitchFamily="34" charset="0"/>
              </a:rPr>
              <a:t>Approach</a:t>
            </a:r>
            <a:r>
              <a:rPr lang="en-PH" sz="4600" dirty="0">
                <a:latin typeface="Trebuchet MS" panose="020B0603020202020204" pitchFamily="34" charset="0"/>
              </a:rPr>
              <a:t>: Supervised learning with labeled training data</a:t>
            </a:r>
          </a:p>
          <a:p>
            <a:pPr marL="0" indent="0">
              <a:buFont typeface="Arial" pitchFamily="34" charset="0"/>
              <a:buNone/>
            </a:pPr>
            <a:r>
              <a:rPr lang="en-PH" sz="4600" dirty="0">
                <a:latin typeface="Trebuchet MS" panose="020B0603020202020204" pitchFamily="34" charset="0"/>
              </a:rPr>
              <a:t>5. </a:t>
            </a:r>
            <a:r>
              <a:rPr lang="en-PH" sz="4600" b="1" dirty="0">
                <a:latin typeface="Trebuchet MS" panose="020B0603020202020204" pitchFamily="34" charset="0"/>
              </a:rPr>
              <a:t>Validation</a:t>
            </a:r>
            <a:r>
              <a:rPr lang="en-PH" sz="4600" dirty="0">
                <a:latin typeface="Trebuchet MS" panose="020B0603020202020204" pitchFamily="34" charset="0"/>
              </a:rPr>
              <a:t>: Cross-validation for robust evaluation</a:t>
            </a:r>
          </a:p>
          <a:p>
            <a:pPr marL="0" indent="0">
              <a:buFont typeface="Arial" pitchFamily="34" charset="0"/>
              <a:buNone/>
            </a:pPr>
            <a:endParaRPr lang="en-PH" sz="46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948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82296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59300" y="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458869" y="1402166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3" y="0"/>
                </a:lnTo>
                <a:lnTo>
                  <a:pt x="7417733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-5411485" y="2045421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980EF3C-B737-4E6F-61AE-D98BA54DD631}"/>
              </a:ext>
            </a:extLst>
          </p:cNvPr>
          <p:cNvSpPr txBox="1">
            <a:spLocks/>
          </p:cNvSpPr>
          <p:nvPr/>
        </p:nvSpPr>
        <p:spPr>
          <a:xfrm>
            <a:off x="4829132" y="1071470"/>
            <a:ext cx="8786138" cy="11722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PH" sz="6000" b="1" dirty="0">
                <a:latin typeface="Trebuchet MS" panose="020B0603020202020204" pitchFamily="34" charset="0"/>
              </a:rPr>
              <a:t>Model Training Process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EBE05AC-5628-3134-CF8E-C48ECB29E8D9}"/>
              </a:ext>
            </a:extLst>
          </p:cNvPr>
          <p:cNvGrpSpPr/>
          <p:nvPr/>
        </p:nvGrpSpPr>
        <p:grpSpPr>
          <a:xfrm>
            <a:off x="1537363" y="9309546"/>
            <a:ext cx="5410200" cy="637045"/>
            <a:chOff x="489551" y="914734"/>
            <a:chExt cx="4709920" cy="561682"/>
          </a:xfrm>
        </p:grpSpPr>
        <p:sp>
          <p:nvSpPr>
            <p:cNvPr id="33" name="TextBox 8">
              <a:extLst>
                <a:ext uri="{FF2B5EF4-FFF2-40B4-BE49-F238E27FC236}">
                  <a16:creationId xmlns:a16="http://schemas.microsoft.com/office/drawing/2014/main" id="{33980273-225D-0056-6394-32CB4E4F10E5}"/>
                </a:ext>
              </a:extLst>
            </p:cNvPr>
            <p:cNvSpPr txBox="1"/>
            <p:nvPr/>
          </p:nvSpPr>
          <p:spPr>
            <a:xfrm>
              <a:off x="1465671" y="1169153"/>
              <a:ext cx="3733800" cy="3072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3200" dirty="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The J-Squad + Q</a:t>
              </a:r>
            </a:p>
          </p:txBody>
        </p:sp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93DAB23D-18F0-2D46-0F05-667B23417121}"/>
                </a:ext>
              </a:extLst>
            </p:cNvPr>
            <p:cNvSpPr/>
            <p:nvPr/>
          </p:nvSpPr>
          <p:spPr>
            <a:xfrm>
              <a:off x="489551" y="914734"/>
              <a:ext cx="749533" cy="561682"/>
            </a:xfrm>
            <a:custGeom>
              <a:avLst/>
              <a:gdLst/>
              <a:ahLst/>
              <a:cxnLst/>
              <a:rect l="l" t="t" r="r" b="b"/>
              <a:pathLst>
                <a:path w="660985" h="462690">
                  <a:moveTo>
                    <a:pt x="0" y="0"/>
                  </a:moveTo>
                  <a:lnTo>
                    <a:pt x="660985" y="0"/>
                  </a:lnTo>
                  <a:lnTo>
                    <a:pt x="660985" y="462690"/>
                  </a:lnTo>
                  <a:lnTo>
                    <a:pt x="0" y="462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B83506CC-65BD-0A3F-0AE0-AC13E30AC1C2}"/>
              </a:ext>
            </a:extLst>
          </p:cNvPr>
          <p:cNvSpPr txBox="1">
            <a:spLocks/>
          </p:cNvSpPr>
          <p:nvPr/>
        </p:nvSpPr>
        <p:spPr>
          <a:xfrm>
            <a:off x="304800" y="247500"/>
            <a:ext cx="7279430" cy="4562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3200" i="0" dirty="0">
                <a:effectLst/>
                <a:latin typeface="Trebuchet MS" panose="020B0603020202020204" pitchFamily="34" charset="0"/>
              </a:rPr>
              <a:t>B. MODEL IMPLEMENTATION</a:t>
            </a:r>
            <a:endParaRPr lang="en-US" sz="3200" i="0" dirty="0">
              <a:effectLst/>
              <a:latin typeface="Trebuchet MS" panose="020B0603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719303-7128-9EFC-A0AF-FCE6F5F93C1D}"/>
              </a:ext>
            </a:extLst>
          </p:cNvPr>
          <p:cNvSpPr txBox="1">
            <a:spLocks/>
          </p:cNvSpPr>
          <p:nvPr/>
        </p:nvSpPr>
        <p:spPr>
          <a:xfrm>
            <a:off x="1537363" y="2243758"/>
            <a:ext cx="7940353" cy="12719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5000" u="sng" dirty="0">
                <a:latin typeface="Trebuchet MS" panose="020B0603020202020204" pitchFamily="34" charset="0"/>
              </a:rPr>
              <a:t>Implementation Workflow</a:t>
            </a:r>
            <a:endParaRPr lang="en-US" sz="5000" u="sng" dirty="0">
              <a:latin typeface="Trebuchet MS" panose="020B0603020202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BCF9F9-00E8-230D-468F-D317ADC04934}"/>
              </a:ext>
            </a:extLst>
          </p:cNvPr>
          <p:cNvSpPr txBox="1">
            <a:spLocks/>
          </p:cNvSpPr>
          <p:nvPr/>
        </p:nvSpPr>
        <p:spPr>
          <a:xfrm>
            <a:off x="1537363" y="3416046"/>
            <a:ext cx="7225637" cy="579948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4500" dirty="0">
                <a:latin typeface="Trebuchet MS" panose="020B0603020202020204" pitchFamily="34" charset="0"/>
              </a:rPr>
              <a:t>	Data Loading &amp; EDA</a:t>
            </a:r>
          </a:p>
          <a:p>
            <a:pPr marL="0" indent="0">
              <a:buFont typeface="Arial" pitchFamily="34" charset="0"/>
              <a:buNone/>
            </a:pPr>
            <a:r>
              <a:rPr lang="en-US" sz="4500" dirty="0">
                <a:latin typeface="Trebuchet MS" panose="020B0603020202020204" pitchFamily="34" charset="0"/>
              </a:rPr>
              <a:t>    		↓</a:t>
            </a:r>
          </a:p>
          <a:p>
            <a:pPr marL="0" indent="0">
              <a:buFont typeface="Arial" pitchFamily="34" charset="0"/>
              <a:buNone/>
            </a:pPr>
            <a:r>
              <a:rPr lang="en-US" sz="4500" dirty="0">
                <a:latin typeface="Trebuchet MS" panose="020B0603020202020204" pitchFamily="34" charset="0"/>
              </a:rPr>
              <a:t>	Preprocessing Pipeline  </a:t>
            </a:r>
          </a:p>
          <a:p>
            <a:pPr marL="0" indent="0">
              <a:buFont typeface="Arial" pitchFamily="34" charset="0"/>
              <a:buNone/>
            </a:pPr>
            <a:r>
              <a:rPr lang="en-US" sz="4500" dirty="0">
                <a:latin typeface="Trebuchet MS" panose="020B0603020202020204" pitchFamily="34" charset="0"/>
              </a:rPr>
              <a:t>    	 	↓</a:t>
            </a:r>
          </a:p>
          <a:p>
            <a:pPr marL="0" indent="0">
              <a:buFont typeface="Arial" pitchFamily="34" charset="0"/>
              <a:buNone/>
            </a:pPr>
            <a:r>
              <a:rPr lang="en-US" sz="4500" dirty="0">
                <a:latin typeface="Trebuchet MS" panose="020B0603020202020204" pitchFamily="34" charset="0"/>
              </a:rPr>
              <a:t>	Binary Classification 	Setup (Pass ≥ 10)</a:t>
            </a:r>
          </a:p>
          <a:p>
            <a:pPr marL="0" indent="0">
              <a:buFont typeface="Arial" pitchFamily="34" charset="0"/>
              <a:buNone/>
            </a:pPr>
            <a:r>
              <a:rPr lang="en-US" sz="4500" dirty="0">
                <a:latin typeface="Trebuchet MS" panose="020B0603020202020204" pitchFamily="34" charset="0"/>
              </a:rPr>
              <a:t>    	 	↓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95400A-195A-F667-9457-21CA63B63956}"/>
              </a:ext>
            </a:extLst>
          </p:cNvPr>
          <p:cNvSpPr txBox="1">
            <a:spLocks/>
          </p:cNvSpPr>
          <p:nvPr/>
        </p:nvSpPr>
        <p:spPr>
          <a:xfrm>
            <a:off x="10874402" y="3515688"/>
            <a:ext cx="6518335" cy="57938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500" dirty="0">
                <a:latin typeface="Trebuchet MS" panose="020B0603020202020204" pitchFamily="34" charset="0"/>
              </a:rPr>
              <a:t>Model Training (RF, SVM, KNN)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500" dirty="0">
                <a:latin typeface="Trebuchet MS" panose="020B0603020202020204" pitchFamily="34" charset="0"/>
              </a:rPr>
              <a:t>	↓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500" dirty="0">
                <a:latin typeface="Trebuchet MS" panose="020B0603020202020204" pitchFamily="34" charset="0"/>
              </a:rPr>
              <a:t>Hyperparameter Tuning (</a:t>
            </a:r>
            <a:r>
              <a:rPr lang="en-US" sz="4500" dirty="0" err="1">
                <a:latin typeface="Trebuchet MS" panose="020B0603020202020204" pitchFamily="34" charset="0"/>
              </a:rPr>
              <a:t>GridSearchCV</a:t>
            </a:r>
            <a:r>
              <a:rPr lang="en-US" sz="4500" dirty="0">
                <a:latin typeface="Trebuchet MS" panose="020B0603020202020204" pitchFamily="34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500" dirty="0">
                <a:latin typeface="Trebuchet MS" panose="020B0603020202020204" pitchFamily="34" charset="0"/>
              </a:rPr>
              <a:t> 	↓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500" dirty="0">
                <a:latin typeface="Trebuchet MS" panose="020B0603020202020204" pitchFamily="34" charset="0"/>
              </a:rPr>
              <a:t>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3565352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82296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59300" y="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458869" y="1402166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3" y="0"/>
                </a:lnTo>
                <a:lnTo>
                  <a:pt x="7417733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-5411485" y="2045421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980EF3C-B737-4E6F-61AE-D98BA54DD631}"/>
              </a:ext>
            </a:extLst>
          </p:cNvPr>
          <p:cNvSpPr txBox="1">
            <a:spLocks/>
          </p:cNvSpPr>
          <p:nvPr/>
        </p:nvSpPr>
        <p:spPr>
          <a:xfrm>
            <a:off x="4792823" y="1056709"/>
            <a:ext cx="7940353" cy="11722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PH" sz="6000" b="1" dirty="0">
                <a:latin typeface="Trebuchet MS" panose="020B0603020202020204" pitchFamily="34" charset="0"/>
              </a:rPr>
              <a:t>Performance Results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EBE05AC-5628-3134-CF8E-C48ECB29E8D9}"/>
              </a:ext>
            </a:extLst>
          </p:cNvPr>
          <p:cNvGrpSpPr/>
          <p:nvPr/>
        </p:nvGrpSpPr>
        <p:grpSpPr>
          <a:xfrm>
            <a:off x="1537363" y="9309546"/>
            <a:ext cx="5410200" cy="637045"/>
            <a:chOff x="489551" y="914734"/>
            <a:chExt cx="4709920" cy="561682"/>
          </a:xfrm>
        </p:grpSpPr>
        <p:sp>
          <p:nvSpPr>
            <p:cNvPr id="33" name="TextBox 8">
              <a:extLst>
                <a:ext uri="{FF2B5EF4-FFF2-40B4-BE49-F238E27FC236}">
                  <a16:creationId xmlns:a16="http://schemas.microsoft.com/office/drawing/2014/main" id="{33980273-225D-0056-6394-32CB4E4F10E5}"/>
                </a:ext>
              </a:extLst>
            </p:cNvPr>
            <p:cNvSpPr txBox="1"/>
            <p:nvPr/>
          </p:nvSpPr>
          <p:spPr>
            <a:xfrm>
              <a:off x="1465671" y="1169153"/>
              <a:ext cx="3733800" cy="3072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3200" dirty="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The J-Squad + Q</a:t>
              </a:r>
            </a:p>
          </p:txBody>
        </p:sp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93DAB23D-18F0-2D46-0F05-667B23417121}"/>
                </a:ext>
              </a:extLst>
            </p:cNvPr>
            <p:cNvSpPr/>
            <p:nvPr/>
          </p:nvSpPr>
          <p:spPr>
            <a:xfrm>
              <a:off x="489551" y="914734"/>
              <a:ext cx="749533" cy="561682"/>
            </a:xfrm>
            <a:custGeom>
              <a:avLst/>
              <a:gdLst/>
              <a:ahLst/>
              <a:cxnLst/>
              <a:rect l="l" t="t" r="r" b="b"/>
              <a:pathLst>
                <a:path w="660985" h="462690">
                  <a:moveTo>
                    <a:pt x="0" y="0"/>
                  </a:moveTo>
                  <a:lnTo>
                    <a:pt x="660985" y="0"/>
                  </a:lnTo>
                  <a:lnTo>
                    <a:pt x="660985" y="462690"/>
                  </a:lnTo>
                  <a:lnTo>
                    <a:pt x="0" y="462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B83506CC-65BD-0A3F-0AE0-AC13E30AC1C2}"/>
              </a:ext>
            </a:extLst>
          </p:cNvPr>
          <p:cNvSpPr txBox="1">
            <a:spLocks/>
          </p:cNvSpPr>
          <p:nvPr/>
        </p:nvSpPr>
        <p:spPr>
          <a:xfrm>
            <a:off x="304800" y="247500"/>
            <a:ext cx="7279430" cy="4562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3200" dirty="0">
                <a:latin typeface="Trebuchet MS" panose="020B0603020202020204" pitchFamily="34" charset="0"/>
              </a:rPr>
              <a:t>C</a:t>
            </a:r>
            <a:r>
              <a:rPr lang="fr-FR" sz="3200" i="0" dirty="0">
                <a:effectLst/>
                <a:latin typeface="Trebuchet MS" panose="020B0603020202020204" pitchFamily="34" charset="0"/>
              </a:rPr>
              <a:t>. MODEL EVALUATION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C2FA1B1-2620-52AF-E41F-386C2D3239D7}"/>
              </a:ext>
            </a:extLst>
          </p:cNvPr>
          <p:cNvSpPr txBox="1">
            <a:spLocks/>
          </p:cNvSpPr>
          <p:nvPr/>
        </p:nvSpPr>
        <p:spPr>
          <a:xfrm>
            <a:off x="1537363" y="2592201"/>
            <a:ext cx="15793472" cy="629263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it-IT" sz="5000" u="sng" dirty="0">
                <a:latin typeface="Trebuchet MS" panose="020B0603020202020204" pitchFamily="34" charset="0"/>
              </a:rPr>
              <a:t>Model Evaluation Metrics</a:t>
            </a:r>
            <a:endParaRPr lang="en-US" sz="5000" u="sng" dirty="0">
              <a:latin typeface="Trebuchet MS" panose="020B0603020202020204" pitchFamily="34" charset="0"/>
            </a:endParaRPr>
          </a:p>
          <a:p>
            <a:pPr marL="0" indent="0">
              <a:buFont typeface="Arial" pitchFamily="34" charset="0"/>
              <a:buNone/>
            </a:pPr>
            <a:endParaRPr lang="en-US" sz="4200" dirty="0">
              <a:latin typeface="Trebuchet MS" panose="020B0603020202020204" pitchFamily="34" charset="0"/>
            </a:endParaRPr>
          </a:p>
          <a:p>
            <a:pPr marL="0" indent="0">
              <a:buFont typeface="Arial" pitchFamily="34" charset="0"/>
              <a:buNone/>
            </a:pPr>
            <a:endParaRPr lang="en-US" sz="4200" dirty="0">
              <a:latin typeface="Trebuchet MS" panose="020B0603020202020204" pitchFamily="34" charset="0"/>
            </a:endParaRPr>
          </a:p>
          <a:p>
            <a:pPr marL="0" indent="0">
              <a:buFont typeface="Arial" pitchFamily="34" charset="0"/>
              <a:buNone/>
            </a:pPr>
            <a:endParaRPr lang="en-US" sz="4200" dirty="0">
              <a:latin typeface="Trebuchet MS" panose="020B0603020202020204" pitchFamily="34" charset="0"/>
            </a:endParaRPr>
          </a:p>
          <a:p>
            <a:pPr marL="0" indent="0">
              <a:buFont typeface="Arial" pitchFamily="34" charset="0"/>
              <a:buNone/>
            </a:pPr>
            <a:endParaRPr lang="en-US" sz="4200" dirty="0">
              <a:latin typeface="Trebuchet MS" panose="020B0603020202020204" pitchFamily="34" charset="0"/>
            </a:endParaRPr>
          </a:p>
          <a:p>
            <a:pPr marL="0" indent="0">
              <a:buFont typeface="Arial" pitchFamily="34" charset="0"/>
              <a:buNone/>
            </a:pPr>
            <a:endParaRPr lang="en-US" sz="4200" dirty="0">
              <a:latin typeface="Trebuchet MS" panose="020B0603020202020204" pitchFamily="34" charset="0"/>
            </a:endParaRPr>
          </a:p>
          <a:p>
            <a:pPr marL="0" indent="0">
              <a:buFont typeface="Arial" pitchFamily="34" charset="0"/>
              <a:buNone/>
            </a:pPr>
            <a:endParaRPr lang="en-US" sz="4200" dirty="0">
              <a:latin typeface="Trebuchet MS" panose="020B0603020202020204" pitchFamily="34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4200" dirty="0">
                <a:latin typeface="Trebuchet MS" panose="020B0603020202020204" pitchFamily="34" charset="0"/>
              </a:rPr>
              <a:t>Random Forest achieves superior performance across all metrics</a:t>
            </a:r>
            <a:endParaRPr lang="en-PH" sz="4200" dirty="0">
              <a:latin typeface="Trebuchet MS" panose="020B0603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3B5D08-801B-58DB-0E24-C11147AA18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67850" y="3570645"/>
            <a:ext cx="14661245" cy="434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276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82296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59300" y="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458869" y="1402166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3" y="0"/>
                </a:lnTo>
                <a:lnTo>
                  <a:pt x="7417733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-5411485" y="2045421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980EF3C-B737-4E6F-61AE-D98BA54DD631}"/>
              </a:ext>
            </a:extLst>
          </p:cNvPr>
          <p:cNvSpPr txBox="1">
            <a:spLocks/>
          </p:cNvSpPr>
          <p:nvPr/>
        </p:nvSpPr>
        <p:spPr>
          <a:xfrm>
            <a:off x="6017983" y="1051817"/>
            <a:ext cx="6560977" cy="11722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PH" sz="6000" b="1" dirty="0">
                <a:latin typeface="Trebuchet MS" panose="020B0603020202020204" pitchFamily="34" charset="0"/>
              </a:rPr>
              <a:t>Model Validation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EBE05AC-5628-3134-CF8E-C48ECB29E8D9}"/>
              </a:ext>
            </a:extLst>
          </p:cNvPr>
          <p:cNvGrpSpPr/>
          <p:nvPr/>
        </p:nvGrpSpPr>
        <p:grpSpPr>
          <a:xfrm>
            <a:off x="1537363" y="9309546"/>
            <a:ext cx="5410200" cy="637045"/>
            <a:chOff x="489551" y="914734"/>
            <a:chExt cx="4709920" cy="561682"/>
          </a:xfrm>
        </p:grpSpPr>
        <p:sp>
          <p:nvSpPr>
            <p:cNvPr id="33" name="TextBox 8">
              <a:extLst>
                <a:ext uri="{FF2B5EF4-FFF2-40B4-BE49-F238E27FC236}">
                  <a16:creationId xmlns:a16="http://schemas.microsoft.com/office/drawing/2014/main" id="{33980273-225D-0056-6394-32CB4E4F10E5}"/>
                </a:ext>
              </a:extLst>
            </p:cNvPr>
            <p:cNvSpPr txBox="1"/>
            <p:nvPr/>
          </p:nvSpPr>
          <p:spPr>
            <a:xfrm>
              <a:off x="1465671" y="1169153"/>
              <a:ext cx="3733800" cy="3072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3200" dirty="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The J-Squad + Q</a:t>
              </a:r>
            </a:p>
          </p:txBody>
        </p:sp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93DAB23D-18F0-2D46-0F05-667B23417121}"/>
                </a:ext>
              </a:extLst>
            </p:cNvPr>
            <p:cNvSpPr/>
            <p:nvPr/>
          </p:nvSpPr>
          <p:spPr>
            <a:xfrm>
              <a:off x="489551" y="914734"/>
              <a:ext cx="749533" cy="561682"/>
            </a:xfrm>
            <a:custGeom>
              <a:avLst/>
              <a:gdLst/>
              <a:ahLst/>
              <a:cxnLst/>
              <a:rect l="l" t="t" r="r" b="b"/>
              <a:pathLst>
                <a:path w="660985" h="462690">
                  <a:moveTo>
                    <a:pt x="0" y="0"/>
                  </a:moveTo>
                  <a:lnTo>
                    <a:pt x="660985" y="0"/>
                  </a:lnTo>
                  <a:lnTo>
                    <a:pt x="660985" y="462690"/>
                  </a:lnTo>
                  <a:lnTo>
                    <a:pt x="0" y="462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B83506CC-65BD-0A3F-0AE0-AC13E30AC1C2}"/>
              </a:ext>
            </a:extLst>
          </p:cNvPr>
          <p:cNvSpPr txBox="1">
            <a:spLocks/>
          </p:cNvSpPr>
          <p:nvPr/>
        </p:nvSpPr>
        <p:spPr>
          <a:xfrm>
            <a:off x="304800" y="247500"/>
            <a:ext cx="7279430" cy="4562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3200" dirty="0">
                <a:latin typeface="Trebuchet MS" panose="020B0603020202020204" pitchFamily="34" charset="0"/>
              </a:rPr>
              <a:t>C</a:t>
            </a:r>
            <a:r>
              <a:rPr lang="fr-FR" sz="3200" i="0" dirty="0">
                <a:effectLst/>
                <a:latin typeface="Trebuchet MS" panose="020B0603020202020204" pitchFamily="34" charset="0"/>
              </a:rPr>
              <a:t>. MODEL EVALUATION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7969E2E-77FC-3479-FD6F-4E6CF28AB2BB}"/>
              </a:ext>
            </a:extLst>
          </p:cNvPr>
          <p:cNvSpPr txBox="1">
            <a:spLocks/>
          </p:cNvSpPr>
          <p:nvPr/>
        </p:nvSpPr>
        <p:spPr>
          <a:xfrm>
            <a:off x="1537363" y="2620523"/>
            <a:ext cx="15946298" cy="624774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it-IT" sz="5000" u="sng" dirty="0">
                <a:latin typeface="Trebuchet MS" panose="020B0603020202020204" pitchFamily="34" charset="0"/>
              </a:rPr>
              <a:t>Evaluation Framework</a:t>
            </a:r>
          </a:p>
          <a:p>
            <a:pPr marL="0" indent="0">
              <a:buFont typeface="Arial" pitchFamily="34" charset="0"/>
              <a:buNone/>
            </a:pPr>
            <a:r>
              <a:rPr lang="it-IT" sz="4200" dirty="0">
                <a:latin typeface="Trebuchet MS" panose="020B0603020202020204" pitchFamily="34" charset="0"/>
              </a:rPr>
              <a:t>1. </a:t>
            </a:r>
            <a:r>
              <a:rPr lang="en-US" sz="4200" b="1" dirty="0">
                <a:latin typeface="Trebuchet MS" panose="020B0603020202020204" pitchFamily="34" charset="0"/>
              </a:rPr>
              <a:t>Confusion Matrix</a:t>
            </a:r>
            <a:r>
              <a:rPr lang="en-US" sz="4200" dirty="0">
                <a:latin typeface="Trebuchet MS" panose="020B0603020202020204" pitchFamily="34" charset="0"/>
              </a:rPr>
              <a:t>: Analyzed True/False Positive rates</a:t>
            </a:r>
          </a:p>
          <a:p>
            <a:pPr marL="0" indent="0">
              <a:buFont typeface="Arial" pitchFamily="34" charset="0"/>
              <a:buNone/>
            </a:pPr>
            <a:r>
              <a:rPr lang="en-US" sz="4200" dirty="0">
                <a:latin typeface="Trebuchet MS" panose="020B0603020202020204" pitchFamily="34" charset="0"/>
              </a:rPr>
              <a:t>2. </a:t>
            </a:r>
            <a:r>
              <a:rPr lang="en-US" sz="4200" b="1" dirty="0">
                <a:latin typeface="Trebuchet MS" panose="020B0603020202020204" pitchFamily="34" charset="0"/>
              </a:rPr>
              <a:t>Cross-Validation</a:t>
            </a:r>
            <a:r>
              <a:rPr lang="en-US" sz="4200" dirty="0">
                <a:latin typeface="Trebuchet MS" panose="020B0603020202020204" pitchFamily="34" charset="0"/>
              </a:rPr>
              <a:t>: 5-fold validation confirms stability</a:t>
            </a:r>
          </a:p>
          <a:p>
            <a:pPr marL="0" indent="0">
              <a:buFont typeface="Arial" pitchFamily="34" charset="0"/>
              <a:buNone/>
            </a:pPr>
            <a:r>
              <a:rPr lang="en-US" sz="4200" dirty="0">
                <a:latin typeface="Trebuchet MS" panose="020B0603020202020204" pitchFamily="34" charset="0"/>
              </a:rPr>
              <a:t>3. </a:t>
            </a:r>
            <a:r>
              <a:rPr lang="en-US" sz="4200" b="1" dirty="0">
                <a:latin typeface="Trebuchet MS" panose="020B0603020202020204" pitchFamily="34" charset="0"/>
              </a:rPr>
              <a:t>Balanced Performance</a:t>
            </a:r>
            <a:r>
              <a:rPr lang="en-US" sz="4200" dirty="0">
                <a:latin typeface="Trebuchet MS" panose="020B0603020202020204" pitchFamily="34" charset="0"/>
              </a:rPr>
              <a:t>: Random Forest shows consistency</a:t>
            </a:r>
          </a:p>
          <a:p>
            <a:pPr marL="0" indent="0">
              <a:buFont typeface="Arial" pitchFamily="34" charset="0"/>
              <a:buNone/>
            </a:pPr>
            <a:r>
              <a:rPr lang="en-US" sz="4200" dirty="0">
                <a:latin typeface="Trebuchet MS" panose="020B0603020202020204" pitchFamily="34" charset="0"/>
              </a:rPr>
              <a:t>4. </a:t>
            </a:r>
            <a:r>
              <a:rPr lang="en-US" sz="4200" b="1" dirty="0">
                <a:latin typeface="Trebuchet MS" panose="020B0603020202020204" pitchFamily="34" charset="0"/>
              </a:rPr>
              <a:t>Real-World Impact</a:t>
            </a:r>
            <a:r>
              <a:rPr lang="en-US" sz="4200" dirty="0">
                <a:latin typeface="Trebuchet MS" panose="020B0603020202020204" pitchFamily="34" charset="0"/>
              </a:rPr>
              <a:t>: 90.5% accuracy = 9 out of 10 correct predictions</a:t>
            </a:r>
          </a:p>
          <a:p>
            <a:pPr marL="0" indent="0">
              <a:buFont typeface="Arial" pitchFamily="34" charset="0"/>
              <a:buNone/>
            </a:pPr>
            <a:r>
              <a:rPr lang="en-US" sz="4200" dirty="0">
                <a:latin typeface="Trebuchet MS" panose="020B0603020202020204" pitchFamily="34" charset="0"/>
              </a:rPr>
              <a:t>5. </a:t>
            </a:r>
            <a:r>
              <a:rPr lang="en-US" sz="4200" b="1" dirty="0">
                <a:latin typeface="Trebuchet MS" panose="020B0603020202020204" pitchFamily="34" charset="0"/>
              </a:rPr>
              <a:t>Binary Classification Success</a:t>
            </a:r>
            <a:r>
              <a:rPr lang="en-US" sz="4200" dirty="0">
                <a:latin typeface="Trebuchet MS" panose="020B0603020202020204" pitchFamily="34" charset="0"/>
              </a:rPr>
              <a:t>: Pass/Fail approach outperforms regression</a:t>
            </a:r>
          </a:p>
        </p:txBody>
      </p:sp>
    </p:spTree>
    <p:extLst>
      <p:ext uri="{BB962C8B-B14F-4D97-AF65-F5344CB8AC3E}">
        <p14:creationId xmlns:p14="http://schemas.microsoft.com/office/powerpoint/2010/main" val="3745202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82677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59300" y="381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458869" y="1440266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3" y="0"/>
                </a:lnTo>
                <a:lnTo>
                  <a:pt x="7417733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-5411485" y="2083521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980EF3C-B737-4E6F-61AE-D98BA54DD631}"/>
              </a:ext>
            </a:extLst>
          </p:cNvPr>
          <p:cNvSpPr txBox="1">
            <a:spLocks/>
          </p:cNvSpPr>
          <p:nvPr/>
        </p:nvSpPr>
        <p:spPr>
          <a:xfrm>
            <a:off x="4366103" y="1200518"/>
            <a:ext cx="10288817" cy="11722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PH" sz="6000" b="1" dirty="0">
                <a:latin typeface="Trebuchet MS" panose="020B0603020202020204" pitchFamily="34" charset="0"/>
              </a:rPr>
              <a:t>Model Comparison Analysis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EBE05AC-5628-3134-CF8E-C48ECB29E8D9}"/>
              </a:ext>
            </a:extLst>
          </p:cNvPr>
          <p:cNvGrpSpPr/>
          <p:nvPr/>
        </p:nvGrpSpPr>
        <p:grpSpPr>
          <a:xfrm>
            <a:off x="1537363" y="9347646"/>
            <a:ext cx="5410200" cy="637045"/>
            <a:chOff x="489551" y="914734"/>
            <a:chExt cx="4709920" cy="561682"/>
          </a:xfrm>
        </p:grpSpPr>
        <p:sp>
          <p:nvSpPr>
            <p:cNvPr id="33" name="TextBox 8">
              <a:extLst>
                <a:ext uri="{FF2B5EF4-FFF2-40B4-BE49-F238E27FC236}">
                  <a16:creationId xmlns:a16="http://schemas.microsoft.com/office/drawing/2014/main" id="{33980273-225D-0056-6394-32CB4E4F10E5}"/>
                </a:ext>
              </a:extLst>
            </p:cNvPr>
            <p:cNvSpPr txBox="1"/>
            <p:nvPr/>
          </p:nvSpPr>
          <p:spPr>
            <a:xfrm>
              <a:off x="1465671" y="1169153"/>
              <a:ext cx="3733800" cy="3072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3200" dirty="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The J-Squad + Q</a:t>
              </a:r>
            </a:p>
          </p:txBody>
        </p:sp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93DAB23D-18F0-2D46-0F05-667B23417121}"/>
                </a:ext>
              </a:extLst>
            </p:cNvPr>
            <p:cNvSpPr/>
            <p:nvPr/>
          </p:nvSpPr>
          <p:spPr>
            <a:xfrm>
              <a:off x="489551" y="914734"/>
              <a:ext cx="749533" cy="561682"/>
            </a:xfrm>
            <a:custGeom>
              <a:avLst/>
              <a:gdLst/>
              <a:ahLst/>
              <a:cxnLst/>
              <a:rect l="l" t="t" r="r" b="b"/>
              <a:pathLst>
                <a:path w="660985" h="462690">
                  <a:moveTo>
                    <a:pt x="0" y="0"/>
                  </a:moveTo>
                  <a:lnTo>
                    <a:pt x="660985" y="0"/>
                  </a:lnTo>
                  <a:lnTo>
                    <a:pt x="660985" y="462690"/>
                  </a:lnTo>
                  <a:lnTo>
                    <a:pt x="0" y="462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B83506CC-65BD-0A3F-0AE0-AC13E30AC1C2}"/>
              </a:ext>
            </a:extLst>
          </p:cNvPr>
          <p:cNvSpPr txBox="1">
            <a:spLocks/>
          </p:cNvSpPr>
          <p:nvPr/>
        </p:nvSpPr>
        <p:spPr>
          <a:xfrm>
            <a:off x="304800" y="285600"/>
            <a:ext cx="8305800" cy="5763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i="0" dirty="0">
                <a:effectLst/>
                <a:latin typeface="Trebuchet MS" panose="020B0603020202020204" pitchFamily="34" charset="0"/>
              </a:rPr>
              <a:t>D. COMPARATIVE ANALYSIS AND DISCUSSION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DCF3B35-620D-D765-023C-01CC19746606}"/>
              </a:ext>
            </a:extLst>
          </p:cNvPr>
          <p:cNvSpPr txBox="1">
            <a:spLocks/>
          </p:cNvSpPr>
          <p:nvPr/>
        </p:nvSpPr>
        <p:spPr>
          <a:xfrm>
            <a:off x="1028700" y="2531378"/>
            <a:ext cx="10645903" cy="9720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5000" u="sng" dirty="0">
                <a:solidFill>
                  <a:prstClr val="black"/>
                </a:solidFill>
                <a:latin typeface="Trebuchet MS" panose="020B0603020202020204" pitchFamily="34" charset="0"/>
              </a:rPr>
              <a:t>Performance Hierarchy &amp; Insights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C13BE11-4BE4-8701-5504-F235FF2D5657}"/>
              </a:ext>
            </a:extLst>
          </p:cNvPr>
          <p:cNvSpPr txBox="1">
            <a:spLocks/>
          </p:cNvSpPr>
          <p:nvPr/>
        </p:nvSpPr>
        <p:spPr>
          <a:xfrm>
            <a:off x="1551825" y="3594380"/>
            <a:ext cx="6903371" cy="549681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4200" b="1" dirty="0">
                <a:latin typeface="Trebuchet MS" panose="020B0603020202020204" pitchFamily="34" charset="0"/>
              </a:rPr>
              <a:t>1</a:t>
            </a:r>
            <a:r>
              <a:rPr lang="en-US" sz="4200" b="1" baseline="30000" dirty="0">
                <a:latin typeface="Trebuchet MS" panose="020B0603020202020204" pitchFamily="34" charset="0"/>
              </a:rPr>
              <a:t>st. </a:t>
            </a:r>
            <a:r>
              <a:rPr lang="en-US" sz="4200" b="1" dirty="0">
                <a:latin typeface="Trebuchet MS" panose="020B0603020202020204" pitchFamily="34" charset="0"/>
              </a:rPr>
              <a:t>Random Forest</a:t>
            </a:r>
            <a:r>
              <a:rPr lang="en-US" sz="4200" dirty="0">
                <a:latin typeface="Trebuchet MS" panose="020B0603020202020204" pitchFamily="34" charset="0"/>
              </a:rPr>
              <a:t> (90.5%)</a:t>
            </a:r>
          </a:p>
          <a:p>
            <a:pPr marL="0" indent="0">
              <a:buFont typeface="Arial" pitchFamily="34" charset="0"/>
              <a:buNone/>
            </a:pPr>
            <a:r>
              <a:rPr lang="en-US" sz="4200" dirty="0">
                <a:latin typeface="Trebuchet MS" panose="020B0603020202020204" pitchFamily="34" charset="0"/>
              </a:rPr>
              <a:t>- Ensemble learning with multiple decision trees</a:t>
            </a:r>
          </a:p>
          <a:p>
            <a:pPr marL="0" indent="0">
              <a:buFont typeface="Arial" pitchFamily="34" charset="0"/>
              <a:buNone/>
            </a:pPr>
            <a:r>
              <a:rPr lang="en-US" sz="4200" dirty="0">
                <a:latin typeface="Trebuchet MS" panose="020B0603020202020204" pitchFamily="34" charset="0"/>
              </a:rPr>
              <a:t>- Excellent handling of mixed data types</a:t>
            </a:r>
          </a:p>
          <a:p>
            <a:pPr marL="0" indent="0">
              <a:buFont typeface="Arial" pitchFamily="34" charset="0"/>
              <a:buNone/>
            </a:pPr>
            <a:r>
              <a:rPr lang="en-US" sz="4200" dirty="0">
                <a:latin typeface="Trebuchet MS" panose="020B0603020202020204" pitchFamily="34" charset="0"/>
              </a:rPr>
              <a:t>- Robust against overfitting and noise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D6F0BA2-ABAB-FDAE-B2E3-ECCDF8F8260D}"/>
              </a:ext>
            </a:extLst>
          </p:cNvPr>
          <p:cNvSpPr txBox="1">
            <a:spLocks/>
          </p:cNvSpPr>
          <p:nvPr/>
        </p:nvSpPr>
        <p:spPr>
          <a:xfrm>
            <a:off x="9912755" y="3594380"/>
            <a:ext cx="7254980" cy="55084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200" b="1" dirty="0">
                <a:latin typeface="Trebuchet MS" panose="020B0603020202020204" pitchFamily="34" charset="0"/>
              </a:rPr>
              <a:t>2</a:t>
            </a:r>
            <a:r>
              <a:rPr lang="en-US" sz="4200" b="1" baseline="30000" dirty="0">
                <a:latin typeface="Trebuchet MS" panose="020B0603020202020204" pitchFamily="34" charset="0"/>
              </a:rPr>
              <a:t>nd. </a:t>
            </a:r>
            <a:r>
              <a:rPr lang="en-US" sz="4200" b="1" dirty="0">
                <a:latin typeface="Trebuchet MS" panose="020B0603020202020204" pitchFamily="34" charset="0"/>
              </a:rPr>
              <a:t>SVM </a:t>
            </a:r>
            <a:r>
              <a:rPr lang="en-US" sz="4200" dirty="0">
                <a:latin typeface="Trebuchet MS" panose="020B0603020202020204" pitchFamily="34" charset="0"/>
              </a:rPr>
              <a:t>(85.7%)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200" dirty="0">
                <a:latin typeface="Trebuchet MS" panose="020B0603020202020204" pitchFamily="34" charset="0"/>
              </a:rPr>
              <a:t>- Strong binary classification with clear decision boundaries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200" dirty="0">
                <a:latin typeface="Trebuchet MS" panose="020B0603020202020204" pitchFamily="34" charset="0"/>
              </a:rPr>
              <a:t>- Solid performance across all metrics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200" b="1" dirty="0">
                <a:latin typeface="Trebuchet MS" panose="020B0603020202020204" pitchFamily="34" charset="0"/>
              </a:rPr>
              <a:t>3</a:t>
            </a:r>
            <a:r>
              <a:rPr lang="en-US" sz="4200" b="1" baseline="30000" dirty="0">
                <a:latin typeface="Trebuchet MS" panose="020B0603020202020204" pitchFamily="34" charset="0"/>
              </a:rPr>
              <a:t>rd. </a:t>
            </a:r>
            <a:r>
              <a:rPr lang="en-US" sz="4200" b="1" dirty="0">
                <a:latin typeface="Trebuchet MS" panose="020B0603020202020204" pitchFamily="34" charset="0"/>
              </a:rPr>
              <a:t>KNN </a:t>
            </a:r>
            <a:r>
              <a:rPr lang="en-US" sz="4200" dirty="0">
                <a:latin typeface="Trebuchet MS" panose="020B0603020202020204" pitchFamily="34" charset="0"/>
              </a:rPr>
              <a:t>(81.0%)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200" dirty="0">
                <a:latin typeface="Trebuchet MS" panose="020B0603020202020204" pitchFamily="34" charset="0"/>
              </a:rPr>
              <a:t>- Challenges with high-dimensional feature space</a:t>
            </a:r>
            <a:endParaRPr lang="en-PH" sz="42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456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82677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59300" y="381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458869" y="1440266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3" y="0"/>
                </a:lnTo>
                <a:lnTo>
                  <a:pt x="7417733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-5411485" y="2083521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980EF3C-B737-4E6F-61AE-D98BA54DD631}"/>
              </a:ext>
            </a:extLst>
          </p:cNvPr>
          <p:cNvSpPr txBox="1">
            <a:spLocks/>
          </p:cNvSpPr>
          <p:nvPr/>
        </p:nvSpPr>
        <p:spPr>
          <a:xfrm>
            <a:off x="4366103" y="1200518"/>
            <a:ext cx="10288817" cy="11722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PH" sz="6000" b="1" dirty="0">
                <a:latin typeface="Trebuchet MS" panose="020B0603020202020204" pitchFamily="34" charset="0"/>
              </a:rPr>
              <a:t>Key Findings &amp; Discussion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EBE05AC-5628-3134-CF8E-C48ECB29E8D9}"/>
              </a:ext>
            </a:extLst>
          </p:cNvPr>
          <p:cNvGrpSpPr/>
          <p:nvPr/>
        </p:nvGrpSpPr>
        <p:grpSpPr>
          <a:xfrm>
            <a:off x="1537363" y="9347646"/>
            <a:ext cx="5410200" cy="637045"/>
            <a:chOff x="489551" y="914734"/>
            <a:chExt cx="4709920" cy="561682"/>
          </a:xfrm>
        </p:grpSpPr>
        <p:sp>
          <p:nvSpPr>
            <p:cNvPr id="33" name="TextBox 8">
              <a:extLst>
                <a:ext uri="{FF2B5EF4-FFF2-40B4-BE49-F238E27FC236}">
                  <a16:creationId xmlns:a16="http://schemas.microsoft.com/office/drawing/2014/main" id="{33980273-225D-0056-6394-32CB4E4F10E5}"/>
                </a:ext>
              </a:extLst>
            </p:cNvPr>
            <p:cNvSpPr txBox="1"/>
            <p:nvPr/>
          </p:nvSpPr>
          <p:spPr>
            <a:xfrm>
              <a:off x="1465671" y="1169153"/>
              <a:ext cx="3733800" cy="3072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3200" dirty="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The J-Squad + Q</a:t>
              </a:r>
            </a:p>
          </p:txBody>
        </p:sp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93DAB23D-18F0-2D46-0F05-667B23417121}"/>
                </a:ext>
              </a:extLst>
            </p:cNvPr>
            <p:cNvSpPr/>
            <p:nvPr/>
          </p:nvSpPr>
          <p:spPr>
            <a:xfrm>
              <a:off x="489551" y="914734"/>
              <a:ext cx="749533" cy="561682"/>
            </a:xfrm>
            <a:custGeom>
              <a:avLst/>
              <a:gdLst/>
              <a:ahLst/>
              <a:cxnLst/>
              <a:rect l="l" t="t" r="r" b="b"/>
              <a:pathLst>
                <a:path w="660985" h="462690">
                  <a:moveTo>
                    <a:pt x="0" y="0"/>
                  </a:moveTo>
                  <a:lnTo>
                    <a:pt x="660985" y="0"/>
                  </a:lnTo>
                  <a:lnTo>
                    <a:pt x="660985" y="462690"/>
                  </a:lnTo>
                  <a:lnTo>
                    <a:pt x="0" y="462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B83506CC-65BD-0A3F-0AE0-AC13E30AC1C2}"/>
              </a:ext>
            </a:extLst>
          </p:cNvPr>
          <p:cNvSpPr txBox="1">
            <a:spLocks/>
          </p:cNvSpPr>
          <p:nvPr/>
        </p:nvSpPr>
        <p:spPr>
          <a:xfrm>
            <a:off x="304800" y="285600"/>
            <a:ext cx="8305800" cy="5763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i="0" dirty="0">
                <a:effectLst/>
                <a:latin typeface="Trebuchet MS" panose="020B0603020202020204" pitchFamily="34" charset="0"/>
              </a:rPr>
              <a:t>D. COMPARATIVE ANALYSIS AND DISCUSSION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38D149-6F00-727C-7314-9261359F7CFE}"/>
              </a:ext>
            </a:extLst>
          </p:cNvPr>
          <p:cNvSpPr txBox="1">
            <a:spLocks/>
          </p:cNvSpPr>
          <p:nvPr/>
        </p:nvSpPr>
        <p:spPr>
          <a:xfrm>
            <a:off x="1312525" y="2492813"/>
            <a:ext cx="15814179" cy="6365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u="sng" dirty="0">
                <a:latin typeface="Trebuchet MS" panose="020B0603020202020204" pitchFamily="34" charset="0"/>
              </a:rPr>
              <a:t>Critical Success Factors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600" dirty="0">
                <a:latin typeface="Trebuchet MS" panose="020B0603020202020204" pitchFamily="34" charset="0"/>
              </a:rPr>
              <a:t>1. </a:t>
            </a:r>
            <a:r>
              <a:rPr lang="en-US" sz="3600" b="1" dirty="0">
                <a:latin typeface="Trebuchet MS" panose="020B0603020202020204" pitchFamily="34" charset="0"/>
              </a:rPr>
              <a:t>Binary Classification</a:t>
            </a:r>
            <a:r>
              <a:rPr lang="en-US" sz="3600" dirty="0">
                <a:latin typeface="Trebuchet MS" panose="020B0603020202020204" pitchFamily="34" charset="0"/>
              </a:rPr>
              <a:t>: Pass/Fail approach more effective than grade regression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600" dirty="0">
                <a:latin typeface="Trebuchet MS" panose="020B0603020202020204" pitchFamily="34" charset="0"/>
              </a:rPr>
              <a:t>2. </a:t>
            </a:r>
            <a:r>
              <a:rPr lang="en-US" sz="3600" b="1" dirty="0">
                <a:latin typeface="Trebuchet MS" panose="020B0603020202020204" pitchFamily="34" charset="0"/>
              </a:rPr>
              <a:t>Feature Engineering</a:t>
            </a:r>
            <a:r>
              <a:rPr lang="en-US" sz="3600" dirty="0">
                <a:latin typeface="Trebuchet MS" panose="020B0603020202020204" pitchFamily="34" charset="0"/>
              </a:rPr>
              <a:t>: 17 optimized predictors improve performance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600" dirty="0">
                <a:latin typeface="Trebuchet MS" panose="020B0603020202020204" pitchFamily="34" charset="0"/>
              </a:rPr>
              <a:t>3. </a:t>
            </a:r>
            <a:r>
              <a:rPr lang="en-US" sz="3600" b="1" dirty="0">
                <a:latin typeface="Trebuchet MS" panose="020B0603020202020204" pitchFamily="34" charset="0"/>
              </a:rPr>
              <a:t>Ensemble Learning</a:t>
            </a:r>
            <a:r>
              <a:rPr lang="en-US" sz="3600" dirty="0">
                <a:latin typeface="Trebuchet MS" panose="020B0603020202020204" pitchFamily="34" charset="0"/>
              </a:rPr>
              <a:t>: Random Forest's multiple trees enhance accuracy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600" dirty="0">
                <a:latin typeface="Trebuchet MS" panose="020B0603020202020204" pitchFamily="34" charset="0"/>
              </a:rPr>
              <a:t>4. </a:t>
            </a:r>
            <a:r>
              <a:rPr lang="en-US" sz="3600" b="1" dirty="0">
                <a:latin typeface="Trebuchet MS" panose="020B0603020202020204" pitchFamily="34" charset="0"/>
              </a:rPr>
              <a:t>Educational Alignment</a:t>
            </a:r>
            <a:r>
              <a:rPr lang="en-US" sz="3600" dirty="0">
                <a:latin typeface="Trebuchet MS" panose="020B0603020202020204" pitchFamily="34" charset="0"/>
              </a:rPr>
              <a:t>: ≥10/20 threshold matches Portuguese standards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600" dirty="0">
                <a:latin typeface="Trebuchet MS" panose="020B0603020202020204" pitchFamily="34" charset="0"/>
              </a:rPr>
              <a:t>5. </a:t>
            </a:r>
            <a:r>
              <a:rPr lang="en-US" sz="3600" b="1" dirty="0">
                <a:latin typeface="Trebuchet MS" panose="020B0603020202020204" pitchFamily="34" charset="0"/>
              </a:rPr>
              <a:t>Practical Impact</a:t>
            </a:r>
            <a:r>
              <a:rPr lang="en-US" sz="3600" dirty="0">
                <a:latin typeface="Trebuchet MS" panose="020B0603020202020204" pitchFamily="34" charset="0"/>
              </a:rPr>
              <a:t>: 90.5% accuracy enables reliable early intervention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600" dirty="0">
              <a:latin typeface="Trebuchet MS" panose="020B0603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600" dirty="0">
                <a:latin typeface="Trebuchet MS" panose="020B0603020202020204" pitchFamily="34" charset="0"/>
              </a:rPr>
              <a:t>*</a:t>
            </a:r>
            <a:r>
              <a:rPr lang="en-US" sz="3600" b="1" dirty="0">
                <a:latin typeface="Trebuchet MS" panose="020B0603020202020204" pitchFamily="34" charset="0"/>
              </a:rPr>
              <a:t>Model Selection Rationale</a:t>
            </a:r>
            <a:r>
              <a:rPr lang="en-US" sz="3600" dirty="0">
                <a:latin typeface="Trebuchet MS" panose="020B0603020202020204" pitchFamily="34" charset="0"/>
              </a:rPr>
              <a:t>: Random Forest chosen for deployment due to superior accuracy, balanced metrics, and robust performance with educational data.</a:t>
            </a:r>
          </a:p>
        </p:txBody>
      </p:sp>
    </p:spTree>
    <p:extLst>
      <p:ext uri="{BB962C8B-B14F-4D97-AF65-F5344CB8AC3E}">
        <p14:creationId xmlns:p14="http://schemas.microsoft.com/office/powerpoint/2010/main" val="3963052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82677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59300" y="381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458869" y="1440266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3" y="0"/>
                </a:lnTo>
                <a:lnTo>
                  <a:pt x="7417733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-5411485" y="2083521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980EF3C-B737-4E6F-61AE-D98BA54DD631}"/>
              </a:ext>
            </a:extLst>
          </p:cNvPr>
          <p:cNvSpPr txBox="1">
            <a:spLocks/>
          </p:cNvSpPr>
          <p:nvPr/>
        </p:nvSpPr>
        <p:spPr>
          <a:xfrm>
            <a:off x="5269151" y="1128466"/>
            <a:ext cx="7749697" cy="11722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PH" sz="6000" b="1" dirty="0">
                <a:latin typeface="Trebuchet MS" panose="020B0603020202020204" pitchFamily="34" charset="0"/>
              </a:rPr>
              <a:t>Conclusion &amp; Impact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EBE05AC-5628-3134-CF8E-C48ECB29E8D9}"/>
              </a:ext>
            </a:extLst>
          </p:cNvPr>
          <p:cNvGrpSpPr/>
          <p:nvPr/>
        </p:nvGrpSpPr>
        <p:grpSpPr>
          <a:xfrm>
            <a:off x="1537363" y="9347646"/>
            <a:ext cx="5410200" cy="637045"/>
            <a:chOff x="489551" y="914734"/>
            <a:chExt cx="4709920" cy="561682"/>
          </a:xfrm>
        </p:grpSpPr>
        <p:sp>
          <p:nvSpPr>
            <p:cNvPr id="33" name="TextBox 8">
              <a:extLst>
                <a:ext uri="{FF2B5EF4-FFF2-40B4-BE49-F238E27FC236}">
                  <a16:creationId xmlns:a16="http://schemas.microsoft.com/office/drawing/2014/main" id="{33980273-225D-0056-6394-32CB4E4F10E5}"/>
                </a:ext>
              </a:extLst>
            </p:cNvPr>
            <p:cNvSpPr txBox="1"/>
            <p:nvPr/>
          </p:nvSpPr>
          <p:spPr>
            <a:xfrm>
              <a:off x="1465671" y="1169153"/>
              <a:ext cx="3733800" cy="3072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3200" dirty="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The J-Squad + Q</a:t>
              </a:r>
            </a:p>
          </p:txBody>
        </p:sp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93DAB23D-18F0-2D46-0F05-667B23417121}"/>
                </a:ext>
              </a:extLst>
            </p:cNvPr>
            <p:cNvSpPr/>
            <p:nvPr/>
          </p:nvSpPr>
          <p:spPr>
            <a:xfrm>
              <a:off x="489551" y="914734"/>
              <a:ext cx="749533" cy="561682"/>
            </a:xfrm>
            <a:custGeom>
              <a:avLst/>
              <a:gdLst/>
              <a:ahLst/>
              <a:cxnLst/>
              <a:rect l="l" t="t" r="r" b="b"/>
              <a:pathLst>
                <a:path w="660985" h="462690">
                  <a:moveTo>
                    <a:pt x="0" y="0"/>
                  </a:moveTo>
                  <a:lnTo>
                    <a:pt x="660985" y="0"/>
                  </a:lnTo>
                  <a:lnTo>
                    <a:pt x="660985" y="462690"/>
                  </a:lnTo>
                  <a:lnTo>
                    <a:pt x="0" y="462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B83506CC-65BD-0A3F-0AE0-AC13E30AC1C2}"/>
              </a:ext>
            </a:extLst>
          </p:cNvPr>
          <p:cNvSpPr txBox="1">
            <a:spLocks/>
          </p:cNvSpPr>
          <p:nvPr/>
        </p:nvSpPr>
        <p:spPr>
          <a:xfrm>
            <a:off x="304800" y="285600"/>
            <a:ext cx="8305800" cy="5763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i="0" dirty="0">
                <a:effectLst/>
                <a:latin typeface="Trebuchet MS" panose="020B0603020202020204" pitchFamily="34" charset="0"/>
              </a:rPr>
              <a:t>D. COMPARATIVE ANALYSIS AND DISCUSSION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B3BC4D-15ED-95E8-2947-9228AB0F7996}"/>
              </a:ext>
            </a:extLst>
          </p:cNvPr>
          <p:cNvSpPr txBox="1">
            <a:spLocks/>
          </p:cNvSpPr>
          <p:nvPr/>
        </p:nvSpPr>
        <p:spPr>
          <a:xfrm>
            <a:off x="1158921" y="2635489"/>
            <a:ext cx="16135548" cy="5835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5000" u="sng" dirty="0">
                <a:latin typeface="Trebuchet MS" panose="020B0603020202020204" pitchFamily="34" charset="0"/>
              </a:rPr>
              <a:t>Project Success Summary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5000" u="sng" dirty="0">
              <a:latin typeface="Trebuchet MS" panose="020B0603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500" dirty="0">
                <a:latin typeface="Trebuchet MS" panose="020B0603020202020204" pitchFamily="34" charset="0"/>
              </a:rPr>
              <a:t>- 90.5% Prediction Accuracy achieved with Random Forest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500" dirty="0">
                <a:latin typeface="Trebuchet MS" panose="020B0603020202020204" pitchFamily="34" charset="0"/>
              </a:rPr>
              <a:t>- Systematic Evaluation of multiple ML algorithms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500" dirty="0">
                <a:latin typeface="Trebuchet MS" panose="020B0603020202020204" pitchFamily="34" charset="0"/>
              </a:rPr>
              <a:t>- Educational Applicability with Pass/Fail classification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500" dirty="0">
                <a:latin typeface="Trebuchet MS" panose="020B0603020202020204" pitchFamily="34" charset="0"/>
              </a:rPr>
              <a:t>- Model for </a:t>
            </a:r>
            <a:r>
              <a:rPr lang="en-US" sz="4500" dirty="0" err="1">
                <a:latin typeface="Trebuchet MS" panose="020B0603020202020204" pitchFamily="34" charset="0"/>
              </a:rPr>
              <a:t>GradePilot</a:t>
            </a:r>
            <a:r>
              <a:rPr lang="en-US" sz="4500" dirty="0">
                <a:latin typeface="Trebuchet MS" panose="020B0603020202020204" pitchFamily="34" charset="0"/>
              </a:rPr>
              <a:t> deployment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500" dirty="0">
                <a:latin typeface="Trebuchet MS" panose="020B0603020202020204" pitchFamily="34" charset="0"/>
              </a:rPr>
              <a:t>- Early Warning System for at-risk student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3396553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45887" y="1181976"/>
            <a:ext cx="14249400" cy="1739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811"/>
              </a:lnSpc>
            </a:pPr>
            <a:r>
              <a:rPr lang="en-US" sz="8800" dirty="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Thank you Sir D, Nice G!!!</a:t>
            </a:r>
          </a:p>
        </p:txBody>
      </p:sp>
      <p:sp>
        <p:nvSpPr>
          <p:cNvPr id="5" name="Freeform 5"/>
          <p:cNvSpPr/>
          <p:nvPr/>
        </p:nvSpPr>
        <p:spPr>
          <a:xfrm>
            <a:off x="11925628" y="4375028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3811" y="-1076640"/>
            <a:ext cx="7417732" cy="7417732"/>
          </a:xfrm>
          <a:custGeom>
            <a:avLst/>
            <a:gdLst/>
            <a:ahLst/>
            <a:cxnLst/>
            <a:rect l="l" t="t" r="r" b="b"/>
            <a:pathLst>
              <a:path w="7417732" h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029557" y="0"/>
            <a:ext cx="2059114" cy="4114800"/>
          </a:xfrm>
          <a:custGeom>
            <a:avLst/>
            <a:gdLst/>
            <a:ahLst/>
            <a:cxnLst/>
            <a:rect l="l" t="t" r="r" b="b"/>
            <a:pathLst>
              <a:path w="2059114" h="4114800">
                <a:moveTo>
                  <a:pt x="0" y="0"/>
                </a:moveTo>
                <a:lnTo>
                  <a:pt x="2059114" y="0"/>
                </a:lnTo>
                <a:lnTo>
                  <a:pt x="20591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7259300" y="822960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CD0952B-A611-8EF2-84A2-0274992ABE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2524" y="3496154"/>
            <a:ext cx="3657600" cy="4572000"/>
          </a:xfrm>
          <a:prstGeom prst="rect">
            <a:avLst/>
          </a:prstGeom>
        </p:spPr>
      </p:pic>
      <p:sp>
        <p:nvSpPr>
          <p:cNvPr id="19" name="TextBox 2">
            <a:extLst>
              <a:ext uri="{FF2B5EF4-FFF2-40B4-BE49-F238E27FC236}">
                <a16:creationId xmlns:a16="http://schemas.microsoft.com/office/drawing/2014/main" id="{7F0B619A-B536-A038-79A5-E3AACAA0B7E3}"/>
              </a:ext>
            </a:extLst>
          </p:cNvPr>
          <p:cNvSpPr txBox="1"/>
          <p:nvPr/>
        </p:nvSpPr>
        <p:spPr>
          <a:xfrm>
            <a:off x="6112380" y="4586162"/>
            <a:ext cx="6916417" cy="1800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811"/>
              </a:lnSpc>
            </a:pPr>
            <a:r>
              <a:rPr lang="en-US" sz="9600" b="1" dirty="0" err="1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GradePilot</a:t>
            </a:r>
            <a:endParaRPr lang="en-US" sz="9600" b="1" dirty="0">
              <a:solidFill>
                <a:srgbClr val="00000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03059683-4B1D-C3B6-C81A-1903A2AC042A}"/>
              </a:ext>
            </a:extLst>
          </p:cNvPr>
          <p:cNvSpPr txBox="1"/>
          <p:nvPr/>
        </p:nvSpPr>
        <p:spPr>
          <a:xfrm>
            <a:off x="5922871" y="6411375"/>
            <a:ext cx="6916417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dirty="0">
                <a:latin typeface="Poppins Light" panose="00000400000000000000" pitchFamily="2" charset="0"/>
                <a:cs typeface="Poppins Light" panose="00000400000000000000" pitchFamily="2" charset="0"/>
              </a:rPr>
              <a:t>Advanced Analytics for Educational Performance Prediction</a:t>
            </a:r>
            <a:endParaRPr lang="en-PH" sz="28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E0FCC1F-94E1-9B6F-B0D4-5869764FE499}"/>
              </a:ext>
            </a:extLst>
          </p:cNvPr>
          <p:cNvGrpSpPr/>
          <p:nvPr/>
        </p:nvGrpSpPr>
        <p:grpSpPr>
          <a:xfrm>
            <a:off x="1288774" y="320646"/>
            <a:ext cx="4533273" cy="538685"/>
            <a:chOff x="489551" y="914734"/>
            <a:chExt cx="4709920" cy="592219"/>
          </a:xfrm>
        </p:grpSpPr>
        <p:sp>
          <p:nvSpPr>
            <p:cNvPr id="22" name="TextBox 8">
              <a:extLst>
                <a:ext uri="{FF2B5EF4-FFF2-40B4-BE49-F238E27FC236}">
                  <a16:creationId xmlns:a16="http://schemas.microsoft.com/office/drawing/2014/main" id="{0AEEC608-79DB-31BB-159E-11BF4376F1F9}"/>
                </a:ext>
              </a:extLst>
            </p:cNvPr>
            <p:cNvSpPr txBox="1"/>
            <p:nvPr/>
          </p:nvSpPr>
          <p:spPr>
            <a:xfrm>
              <a:off x="1465671" y="1169153"/>
              <a:ext cx="3733800" cy="33780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3200" dirty="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The J-Squad + Q</a:t>
              </a:r>
            </a:p>
          </p:txBody>
        </p:sp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7A5D84A8-F5C1-A62F-0DE0-A313E16512AD}"/>
                </a:ext>
              </a:extLst>
            </p:cNvPr>
            <p:cNvSpPr/>
            <p:nvPr/>
          </p:nvSpPr>
          <p:spPr>
            <a:xfrm>
              <a:off x="489551" y="914734"/>
              <a:ext cx="749533" cy="561682"/>
            </a:xfrm>
            <a:custGeom>
              <a:avLst/>
              <a:gdLst/>
              <a:ahLst/>
              <a:cxnLst/>
              <a:rect l="l" t="t" r="r" b="b"/>
              <a:pathLst>
                <a:path w="660985" h="462690">
                  <a:moveTo>
                    <a:pt x="0" y="0"/>
                  </a:moveTo>
                  <a:lnTo>
                    <a:pt x="660985" y="0"/>
                  </a:lnTo>
                  <a:lnTo>
                    <a:pt x="660985" y="462690"/>
                  </a:lnTo>
                  <a:lnTo>
                    <a:pt x="0" y="462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624621C7-DA24-A97B-6257-C057546DE3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202" y="3511894"/>
            <a:ext cx="3657600" cy="4572000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35AA7E97-FA80-0E43-7970-E4D1030FC777}"/>
              </a:ext>
            </a:extLst>
          </p:cNvPr>
          <p:cNvSpPr txBox="1">
            <a:spLocks/>
          </p:cNvSpPr>
          <p:nvPr/>
        </p:nvSpPr>
        <p:spPr>
          <a:xfrm>
            <a:off x="8356510" y="3214826"/>
            <a:ext cx="1905000" cy="20719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sz="100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🎓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D906BD-763F-34A8-E433-E7498A828706}"/>
              </a:ext>
            </a:extLst>
          </p:cNvPr>
          <p:cNvSpPr txBox="1"/>
          <p:nvPr/>
        </p:nvSpPr>
        <p:spPr>
          <a:xfrm>
            <a:off x="3276598" y="8388574"/>
            <a:ext cx="12587979" cy="173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11"/>
              </a:lnSpc>
            </a:pPr>
            <a:r>
              <a:rPr lang="en-US" sz="8800" dirty="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 DONE!!!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</TotalTime>
  <Words>854</Words>
  <Application>Microsoft Office PowerPoint</Application>
  <PresentationFormat>Custom</PresentationFormat>
  <Paragraphs>142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Consolas</vt:lpstr>
      <vt:lpstr>Poppins Light</vt:lpstr>
      <vt:lpstr>Trebuchet MS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Yellow Modern Geometry Data Analytics Presentation</dc:title>
  <cp:lastModifiedBy>OJ Patajo</cp:lastModifiedBy>
  <cp:revision>16</cp:revision>
  <dcterms:created xsi:type="dcterms:W3CDTF">2006-08-16T00:00:00Z</dcterms:created>
  <dcterms:modified xsi:type="dcterms:W3CDTF">2025-11-13T21:28:13Z</dcterms:modified>
  <dc:identifier>DAG4jaTUCLc</dc:identifier>
</cp:coreProperties>
</file>